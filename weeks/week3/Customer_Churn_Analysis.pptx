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Customer Churn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Exploratory Data Analysis &amp; Data Preparation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Completed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600"/>
            </a:pPr>
            <a:r>
              <a:t>Successfully completed 6 key tasks:</a:t>
            </a:r>
          </a:p>
          <a:p>
            <a:pPr>
              <a:spcBef>
                <a:spcPts val="600"/>
              </a:spcBef>
              <a:defRPr sz="1600"/>
            </a:pPr>
            <a:endParaRPr/>
          </a:p>
          <a:p>
            <a:pPr>
              <a:spcBef>
                <a:spcPts val="600"/>
              </a:spcBef>
              <a:defRPr sz="1600"/>
            </a:pPr>
            <a:r>
              <a:t>• Preparing the data</a:t>
            </a:r>
          </a:p>
          <a:p>
            <a:pPr>
              <a:spcBef>
                <a:spcPts val="600"/>
              </a:spcBef>
              <a:defRPr sz="1600"/>
            </a:pPr>
            <a:r>
              <a:t>• Cleaning the data</a:t>
            </a:r>
          </a:p>
          <a:p>
            <a:pPr>
              <a:spcBef>
                <a:spcPts val="600"/>
              </a:spcBef>
              <a:defRPr sz="1600"/>
            </a:pPr>
            <a:r>
              <a:t>• Normalizing and scaling the data</a:t>
            </a:r>
          </a:p>
          <a:p>
            <a:pPr>
              <a:spcBef>
                <a:spcPts val="600"/>
              </a:spcBef>
              <a:defRPr sz="1600"/>
            </a:pPr>
            <a:r>
              <a:t>• Calculating summary statistics</a:t>
            </a:r>
          </a:p>
          <a:p>
            <a:pPr>
              <a:spcBef>
                <a:spcPts val="600"/>
              </a:spcBef>
              <a:defRPr sz="1600"/>
            </a:pPr>
            <a:r>
              <a:t>• Visualizing the data</a:t>
            </a:r>
          </a:p>
          <a:p>
            <a:pPr>
              <a:spcBef>
                <a:spcPts val="600"/>
              </a:spcBef>
              <a:defRPr sz="1600"/>
            </a:pPr>
            <a:r>
              <a:t>• Exploring correlations between variables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600"/>
              </a:spcBef>
              <a:defRPr sz="1600"/>
            </a:pPr>
            <a:r>
              <a:rPr dirty="0"/>
              <a:t>Customer Churn Dataset:</a:t>
            </a:r>
          </a:p>
          <a:p>
            <a:pPr>
              <a:spcBef>
                <a:spcPts val="600"/>
              </a:spcBef>
              <a:defRPr sz="1600"/>
            </a:pPr>
            <a:r>
              <a:rPr dirty="0"/>
              <a:t>• Original records: 3,150</a:t>
            </a:r>
          </a:p>
          <a:p>
            <a:pPr>
              <a:spcBef>
                <a:spcPts val="600"/>
              </a:spcBef>
              <a:defRPr sz="1600"/>
            </a:pPr>
            <a:r>
              <a:rPr dirty="0"/>
              <a:t>• After cleaning: 2,850 (removed 300 duplicates)</a:t>
            </a:r>
          </a:p>
          <a:p>
            <a:pPr>
              <a:spcBef>
                <a:spcPts val="600"/>
              </a:spcBef>
              <a:defRPr sz="1600"/>
            </a:pPr>
            <a:endParaRPr dirty="0"/>
          </a:p>
          <a:p>
            <a:pPr>
              <a:spcBef>
                <a:spcPts val="600"/>
              </a:spcBef>
              <a:defRPr sz="1600"/>
            </a:pPr>
            <a:r>
              <a:rPr dirty="0"/>
              <a:t>Data Quality:</a:t>
            </a:r>
          </a:p>
          <a:p>
            <a:pPr>
              <a:spcBef>
                <a:spcPts val="600"/>
              </a:spcBef>
              <a:defRPr sz="1600"/>
            </a:pPr>
            <a:r>
              <a:rPr dirty="0"/>
              <a:t>• No missing values</a:t>
            </a:r>
          </a:p>
          <a:p>
            <a:pPr>
              <a:spcBef>
                <a:spcPts val="600"/>
              </a:spcBef>
              <a:defRPr sz="1600"/>
            </a:pPr>
            <a:r>
              <a:rPr dirty="0"/>
              <a:t>• Clean and ready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Task 1: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600"/>
            </a:pPr>
            <a:r>
              <a:t>Data Loading and Initial Inspection:</a:t>
            </a:r>
          </a:p>
          <a:p>
            <a:pPr>
              <a:spcBef>
                <a:spcPts val="600"/>
              </a:spcBef>
              <a:defRPr sz="1600"/>
            </a:pPr>
            <a:r>
              <a:t>• Loaded CSV dataset with pandas</a:t>
            </a:r>
          </a:p>
          <a:p>
            <a:pPr>
              <a:spcBef>
                <a:spcPts val="600"/>
              </a:spcBef>
              <a:defRPr sz="1600"/>
            </a:pPr>
            <a:r>
              <a:t>• Cleaned column names (removed extra spaces)</a:t>
            </a:r>
          </a:p>
          <a:p>
            <a:pPr>
              <a:spcBef>
                <a:spcPts val="600"/>
              </a:spcBef>
              <a:defRPr sz="1600"/>
            </a:pPr>
            <a:r>
              <a:t>• Inspected data types and structure</a:t>
            </a:r>
          </a:p>
          <a:p>
            <a:pPr>
              <a:spcBef>
                <a:spcPts val="600"/>
              </a:spcBef>
              <a:defRPr sz="1600"/>
            </a:pPr>
            <a:r>
              <a:t>• Verified data integrity</a:t>
            </a:r>
          </a:p>
          <a:p>
            <a:pPr>
              <a:spcBef>
                <a:spcPts val="600"/>
              </a:spcBef>
              <a:defRPr sz="1600"/>
            </a:pPr>
            <a:endParaRPr/>
          </a:p>
          <a:p>
            <a:pPr>
              <a:spcBef>
                <a:spcPts val="600"/>
              </a:spcBef>
              <a:defRPr sz="1600"/>
            </a:pPr>
            <a:r>
              <a:t>Features:</a:t>
            </a:r>
          </a:p>
          <a:p>
            <a:pPr lvl="1">
              <a:spcBef>
                <a:spcPts val="600"/>
              </a:spcBef>
              <a:defRPr sz="1400"/>
            </a:pPr>
            <a:r>
              <a:t>  Call Failure, Complains, Subscription Length,</a:t>
            </a:r>
          </a:p>
          <a:p>
            <a:pPr lvl="1">
              <a:spcBef>
                <a:spcPts val="600"/>
              </a:spcBef>
              <a:defRPr sz="1400"/>
            </a:pPr>
            <a:r>
              <a:t>  Frequency of use, Customer Value, Status, 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Task 2: 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600"/>
            </a:pPr>
            <a:r>
              <a:t>Cleaning Process:</a:t>
            </a:r>
          </a:p>
          <a:p>
            <a:pPr>
              <a:spcBef>
                <a:spcPts val="600"/>
              </a:spcBef>
              <a:defRPr sz="1600"/>
            </a:pPr>
            <a:r>
              <a:t>• Identified 300 duplicate rows (9.52%)</a:t>
            </a:r>
          </a:p>
          <a:p>
            <a:pPr>
              <a:spcBef>
                <a:spcPts val="600"/>
              </a:spcBef>
              <a:defRPr sz="1600"/>
            </a:pPr>
            <a:r>
              <a:t>• Removed all duplicates</a:t>
            </a:r>
          </a:p>
          <a:p>
            <a:pPr>
              <a:spcBef>
                <a:spcPts val="600"/>
              </a:spcBef>
              <a:defRPr sz="1600"/>
            </a:pPr>
            <a:r>
              <a:t>• Checked for missing values: 0 found</a:t>
            </a:r>
          </a:p>
          <a:p>
            <a:pPr>
              <a:spcBef>
                <a:spcPts val="600"/>
              </a:spcBef>
              <a:defRPr sz="1600"/>
            </a:pPr>
            <a:r>
              <a:t>• Verified data consistency</a:t>
            </a:r>
          </a:p>
          <a:p>
            <a:pPr>
              <a:spcBef>
                <a:spcPts val="600"/>
              </a:spcBef>
              <a:defRPr sz="1600"/>
            </a:pPr>
            <a:endParaRPr/>
          </a:p>
          <a:p>
            <a:pPr>
              <a:spcBef>
                <a:spcPts val="600"/>
              </a:spcBef>
              <a:defRPr sz="1600"/>
            </a:pPr>
            <a:r>
              <a:t>Result:</a:t>
            </a:r>
          </a:p>
          <a:p>
            <a:pPr>
              <a:spcBef>
                <a:spcPts val="600"/>
              </a:spcBef>
              <a:defRPr sz="1600"/>
            </a:pPr>
            <a:r>
              <a:t>• Clean dataset: 2,850 rows × 14 columns</a:t>
            </a:r>
          </a:p>
          <a:p>
            <a:pPr>
              <a:spcBef>
                <a:spcPts val="600"/>
              </a:spcBef>
              <a:defRPr sz="1600"/>
            </a:pPr>
            <a:r>
              <a:t>• Ready for analysis and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Task 3: Normalization &amp;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600"/>
            </a:pPr>
            <a:r>
              <a:t>Applied 3 Scaling Methods:</a:t>
            </a:r>
          </a:p>
          <a:p>
            <a:pPr>
              <a:spcBef>
                <a:spcPts val="600"/>
              </a:spcBef>
              <a:defRPr sz="1600"/>
            </a:pPr>
            <a:endParaRPr/>
          </a:p>
          <a:p>
            <a:pPr>
              <a:spcBef>
                <a:spcPts val="600"/>
              </a:spcBef>
              <a:defRPr sz="1600"/>
            </a:pPr>
            <a:r>
              <a:t>• StandardScaler (Z-score normalization)</a:t>
            </a:r>
          </a:p>
          <a:p>
            <a:pPr lvl="1">
              <a:spcBef>
                <a:spcPts val="600"/>
              </a:spcBef>
              <a:defRPr sz="1400"/>
            </a:pPr>
            <a:r>
              <a:t>  - Mean = 0, Standard Deviation = 1</a:t>
            </a:r>
          </a:p>
          <a:p>
            <a:pPr lvl="1">
              <a:spcBef>
                <a:spcPts val="600"/>
              </a:spcBef>
              <a:defRPr sz="1400"/>
            </a:pPr>
            <a:r>
              <a:t>  - Best for algorithms sensitive to scale</a:t>
            </a:r>
          </a:p>
          <a:p>
            <a:pPr>
              <a:spcBef>
                <a:spcPts val="600"/>
              </a:spcBef>
              <a:defRPr sz="1600"/>
            </a:pPr>
            <a:endParaRPr/>
          </a:p>
          <a:p>
            <a:pPr>
              <a:spcBef>
                <a:spcPts val="600"/>
              </a:spcBef>
              <a:defRPr sz="1600"/>
            </a:pPr>
            <a:r>
              <a:t>• MinMaxScaler (Range [0, 1])</a:t>
            </a:r>
          </a:p>
          <a:p>
            <a:pPr lvl="1">
              <a:spcBef>
                <a:spcPts val="600"/>
              </a:spcBef>
              <a:defRPr sz="1400"/>
            </a:pPr>
            <a:r>
              <a:t>  - Scales all features to 0-1 range</a:t>
            </a:r>
          </a:p>
          <a:p>
            <a:pPr lvl="1">
              <a:spcBef>
                <a:spcPts val="600"/>
              </a:spcBef>
              <a:defRPr sz="1400"/>
            </a:pPr>
            <a:r>
              <a:t>  - Good for neural networks</a:t>
            </a:r>
          </a:p>
          <a:p>
            <a:pPr>
              <a:spcBef>
                <a:spcPts val="600"/>
              </a:spcBef>
              <a:defRPr sz="1600"/>
            </a:pPr>
            <a:endParaRPr/>
          </a:p>
          <a:p>
            <a:pPr>
              <a:spcBef>
                <a:spcPts val="600"/>
              </a:spcBef>
              <a:defRPr sz="1600"/>
            </a:pPr>
            <a:r>
              <a:t>• RobustScaler (Outlier-resistant)</a:t>
            </a:r>
          </a:p>
          <a:p>
            <a:pPr lvl="1">
              <a:spcBef>
                <a:spcPts val="600"/>
              </a:spcBef>
              <a:defRPr sz="1400"/>
            </a:pPr>
            <a:r>
              <a:t>  - Uses median and IQR</a:t>
            </a:r>
          </a:p>
          <a:p>
            <a:pPr lvl="1">
              <a:spcBef>
                <a:spcPts val="600"/>
              </a:spcBef>
              <a:defRPr sz="1400"/>
            </a:pPr>
            <a:r>
              <a:t>  - Less affected by outliers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Task 4: Summary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600"/>
            </a:pPr>
            <a:r>
              <a:t>Key Statistical Findings:</a:t>
            </a:r>
          </a:p>
          <a:p>
            <a:pPr>
              <a:spcBef>
                <a:spcPts val="600"/>
              </a:spcBef>
              <a:defRPr sz="1600"/>
            </a:pPr>
            <a:endParaRPr/>
          </a:p>
          <a:p>
            <a:pPr>
              <a:spcBef>
                <a:spcPts val="600"/>
              </a:spcBef>
              <a:defRPr sz="1600"/>
            </a:pPr>
            <a:r>
              <a:t>Target Variable (Churn):</a:t>
            </a:r>
          </a:p>
          <a:p>
            <a:pPr>
              <a:spcBef>
                <a:spcPts val="600"/>
              </a:spcBef>
              <a:defRPr sz="1600"/>
            </a:pPr>
            <a:r>
              <a:t>• Churn rate: 15.65%</a:t>
            </a:r>
          </a:p>
          <a:p>
            <a:pPr>
              <a:spcBef>
                <a:spcPts val="600"/>
              </a:spcBef>
              <a:defRPr sz="1600"/>
            </a:pPr>
            <a:r>
              <a:t>• Retention rate: 84.35%</a:t>
            </a:r>
          </a:p>
          <a:p>
            <a:pPr>
              <a:spcBef>
                <a:spcPts val="600"/>
              </a:spcBef>
              <a:defRPr sz="1600"/>
            </a:pPr>
            <a:r>
              <a:t>• Class imbalance: 5.39:1 ratio</a:t>
            </a:r>
          </a:p>
          <a:p>
            <a:pPr>
              <a:spcBef>
                <a:spcPts val="600"/>
              </a:spcBef>
              <a:defRPr sz="1600"/>
            </a:pPr>
            <a:endParaRPr/>
          </a:p>
          <a:p>
            <a:pPr>
              <a:spcBef>
                <a:spcPts val="600"/>
              </a:spcBef>
              <a:defRPr sz="1600"/>
            </a:pPr>
            <a:r>
              <a:t>Feature Ranges:</a:t>
            </a:r>
          </a:p>
          <a:p>
            <a:pPr>
              <a:spcBef>
                <a:spcPts val="600"/>
              </a:spcBef>
              <a:defRPr sz="1600"/>
            </a:pPr>
            <a:r>
              <a:t>• Call Failures: 0-36 (mean: 7.63)</a:t>
            </a:r>
          </a:p>
          <a:p>
            <a:pPr>
              <a:spcBef>
                <a:spcPts val="600"/>
              </a:spcBef>
              <a:defRPr sz="1600"/>
            </a:pPr>
            <a:r>
              <a:t>• Frequency of use: 0-255 (mean: 69.46)</a:t>
            </a:r>
          </a:p>
          <a:p>
            <a:pPr>
              <a:spcBef>
                <a:spcPts val="600"/>
              </a:spcBef>
              <a:defRPr sz="1600"/>
            </a:pPr>
            <a:r>
              <a:t>• Customer Value: $0-$2,165 (mean: $470.97)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Task 5: 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600"/>
            </a:pPr>
            <a:r>
              <a:t>Comprehensive Visualizations Created:</a:t>
            </a:r>
          </a:p>
          <a:p>
            <a:pPr>
              <a:spcBef>
                <a:spcPts val="600"/>
              </a:spcBef>
              <a:defRPr sz="1600"/>
            </a:pPr>
            <a:endParaRPr/>
          </a:p>
          <a:p>
            <a:pPr>
              <a:spcBef>
                <a:spcPts val="600"/>
              </a:spcBef>
              <a:defRPr sz="1600"/>
            </a:pPr>
            <a:r>
              <a:t>• Distribution plots (histograms) for all features</a:t>
            </a:r>
          </a:p>
          <a:p>
            <a:pPr>
              <a:spcBef>
                <a:spcPts val="600"/>
              </a:spcBef>
              <a:defRPr sz="1600"/>
            </a:pPr>
            <a:r>
              <a:t>• Pie charts showing churn distribution</a:t>
            </a:r>
          </a:p>
          <a:p>
            <a:pPr>
              <a:spcBef>
                <a:spcPts val="600"/>
              </a:spcBef>
              <a:defRPr sz="1600"/>
            </a:pPr>
            <a:r>
              <a:t>• Box plots comparing churned vs retained</a:t>
            </a:r>
          </a:p>
          <a:p>
            <a:pPr>
              <a:spcBef>
                <a:spcPts val="600"/>
              </a:spcBef>
              <a:defRPr sz="1600"/>
            </a:pPr>
            <a:r>
              <a:t>• Bar charts for categorical variables</a:t>
            </a:r>
          </a:p>
          <a:p>
            <a:pPr>
              <a:spcBef>
                <a:spcPts val="600"/>
              </a:spcBef>
              <a:defRPr sz="1600"/>
            </a:pPr>
            <a:r>
              <a:t>• Scatter plots showing feature relationships</a:t>
            </a:r>
          </a:p>
          <a:p>
            <a:pPr>
              <a:spcBef>
                <a:spcPts val="600"/>
              </a:spcBef>
              <a:defRPr sz="1600"/>
            </a:pPr>
            <a:r>
              <a:t>• Comparison charts for normalization methods</a:t>
            </a:r>
          </a:p>
          <a:p>
            <a:pPr>
              <a:spcBef>
                <a:spcPts val="600"/>
              </a:spcBef>
              <a:defRPr sz="1600"/>
            </a:pPr>
            <a:endParaRPr/>
          </a:p>
          <a:p>
            <a:pPr>
              <a:spcBef>
                <a:spcPts val="600"/>
              </a:spcBef>
              <a:defRPr sz="1600"/>
            </a:pPr>
            <a:r>
              <a:t>All visualizations help identify patterns and anomalies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Task 6: 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600"/>
              </a:spcBef>
              <a:defRPr sz="1600"/>
            </a:pPr>
            <a:r>
              <a:rPr dirty="0"/>
              <a:t>Correlation with Churn (Target):</a:t>
            </a:r>
          </a:p>
          <a:p>
            <a:pPr>
              <a:spcBef>
                <a:spcPts val="600"/>
              </a:spcBef>
              <a:defRPr sz="1600"/>
            </a:pPr>
            <a:endParaRPr dirty="0"/>
          </a:p>
          <a:p>
            <a:pPr>
              <a:spcBef>
                <a:spcPts val="600"/>
              </a:spcBef>
              <a:defRPr sz="1600"/>
            </a:pPr>
            <a:r>
              <a:rPr dirty="0"/>
              <a:t>Strongest Positive Correlations (increase churn):</a:t>
            </a:r>
          </a:p>
          <a:p>
            <a:pPr>
              <a:spcBef>
                <a:spcPts val="600"/>
              </a:spcBef>
              <a:defRPr sz="1600"/>
            </a:pPr>
            <a:r>
              <a:rPr dirty="0"/>
              <a:t>• Complains: +0.546 </a:t>
            </a:r>
            <a:endParaRPr lang="ru-RU" dirty="0"/>
          </a:p>
          <a:p>
            <a:pPr>
              <a:spcBef>
                <a:spcPts val="600"/>
              </a:spcBef>
              <a:defRPr sz="1600"/>
            </a:pPr>
            <a:r>
              <a:rPr dirty="0"/>
              <a:t>• Status: +0.493</a:t>
            </a:r>
          </a:p>
          <a:p>
            <a:pPr>
              <a:spcBef>
                <a:spcPts val="600"/>
              </a:spcBef>
              <a:defRPr sz="1600"/>
            </a:pPr>
            <a:r>
              <a:rPr dirty="0"/>
              <a:t>Strongest Negative Correlations (decrease churn):</a:t>
            </a:r>
          </a:p>
          <a:p>
            <a:pPr>
              <a:spcBef>
                <a:spcPts val="600"/>
              </a:spcBef>
              <a:defRPr sz="1600"/>
            </a:pPr>
            <a:r>
              <a:rPr dirty="0"/>
              <a:t>• Frequency of use: -0.299</a:t>
            </a:r>
          </a:p>
          <a:p>
            <a:pPr>
              <a:spcBef>
                <a:spcPts val="600"/>
              </a:spcBef>
              <a:defRPr sz="1600"/>
            </a:pPr>
            <a:r>
              <a:rPr dirty="0"/>
              <a:t>• Seconds of Use: -0.296</a:t>
            </a:r>
          </a:p>
          <a:p>
            <a:pPr>
              <a:spcBef>
                <a:spcPts val="600"/>
              </a:spcBef>
              <a:defRPr sz="1600"/>
            </a:pPr>
            <a:r>
              <a:rPr dirty="0"/>
              <a:t>• Customer Value: -0.287</a:t>
            </a:r>
          </a:p>
          <a:p>
            <a:pPr>
              <a:spcBef>
                <a:spcPts val="600"/>
              </a:spcBef>
              <a:defRPr sz="1600"/>
            </a:pPr>
            <a:r>
              <a:rPr dirty="0"/>
              <a:t>• Distinct Called Numbers: -0.270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600"/>
            </a:pPr>
            <a:r>
              <a:t>Project Achievements:</a:t>
            </a:r>
          </a:p>
          <a:p>
            <a:pPr>
              <a:spcBef>
                <a:spcPts val="600"/>
              </a:spcBef>
              <a:defRPr sz="1600"/>
            </a:pPr>
            <a:endParaRPr/>
          </a:p>
          <a:p>
            <a:pPr>
              <a:spcBef>
                <a:spcPts val="600"/>
              </a:spcBef>
              <a:defRPr sz="1600"/>
            </a:pPr>
            <a:r>
              <a:t>✓ Completed all 6 required tasks</a:t>
            </a:r>
          </a:p>
          <a:p>
            <a:pPr>
              <a:spcBef>
                <a:spcPts val="600"/>
              </a:spcBef>
              <a:defRPr sz="1600"/>
            </a:pPr>
            <a:r>
              <a:t>✓ Analyzed 2,850 customer records</a:t>
            </a:r>
          </a:p>
          <a:p>
            <a:pPr>
              <a:spcBef>
                <a:spcPts val="600"/>
              </a:spcBef>
              <a:defRPr sz="1600"/>
            </a:pPr>
            <a:r>
              <a:t>✓ Identified key churn predictors</a:t>
            </a:r>
          </a:p>
          <a:p>
            <a:pPr>
              <a:spcBef>
                <a:spcPts val="600"/>
              </a:spcBef>
              <a:defRPr sz="1600"/>
            </a:pPr>
            <a:r>
              <a:t>✓ Created comprehensive visualizations</a:t>
            </a:r>
          </a:p>
          <a:p>
            <a:pPr>
              <a:spcBef>
                <a:spcPts val="600"/>
              </a:spcBef>
              <a:defRPr sz="1600"/>
            </a:pPr>
            <a:r>
              <a:t>✓ Prepared data for machine learning</a:t>
            </a:r>
          </a:p>
          <a:p>
            <a:pPr>
              <a:spcBef>
                <a:spcPts val="600"/>
              </a:spcBef>
              <a:defRPr sz="1600"/>
            </a:pPr>
            <a:endParaRPr/>
          </a:p>
          <a:p>
            <a:pPr>
              <a:spcBef>
                <a:spcPts val="600"/>
              </a:spcBef>
              <a:defRPr sz="1600"/>
            </a:pPr>
            <a:r>
              <a:t>Next Phase:</a:t>
            </a:r>
          </a:p>
          <a:p>
            <a:pPr>
              <a:spcBef>
                <a:spcPts val="600"/>
              </a:spcBef>
              <a:defRPr sz="1600"/>
            </a:pPr>
            <a:r>
              <a:t>• Select ML algorithms</a:t>
            </a:r>
          </a:p>
          <a:p>
            <a:pPr>
              <a:spcBef>
                <a:spcPts val="600"/>
              </a:spcBef>
              <a:defRPr sz="1600"/>
            </a:pPr>
            <a:r>
              <a:t>• Train and evaluate models</a:t>
            </a:r>
          </a:p>
          <a:p>
            <a:pPr>
              <a:spcBef>
                <a:spcPts val="600"/>
              </a:spcBef>
              <a:defRPr sz="1600"/>
            </a:pPr>
            <a:r>
              <a:t>• Perform cross-validation and grid 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497</Words>
  <Application>Microsoft Office PowerPoint</Application>
  <PresentationFormat>Экран (4:3)</PresentationFormat>
  <Paragraphs>109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Oleksii Burianov</cp:lastModifiedBy>
  <cp:revision>2</cp:revision>
  <dcterms:created xsi:type="dcterms:W3CDTF">2013-01-27T09:14:16Z</dcterms:created>
  <dcterms:modified xsi:type="dcterms:W3CDTF">2025-11-24T10:02:27Z</dcterms:modified>
  <cp:category/>
</cp:coreProperties>
</file>
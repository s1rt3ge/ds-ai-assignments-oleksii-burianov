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E0C18-25CE-B400-3CAB-74C16EE86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E08985-4A48-1A0D-350B-BED97F6A2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D8FA52-1F55-0CB1-A0F9-F4456F6C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4641E0-981D-BCD7-8A12-8418A638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24E699-D9A3-66FC-17AB-211353B6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34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A2FD-81C4-FC37-3E16-1DF71EEC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709FF-F8FD-F211-A706-1BDD50DE8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F443D4-9CCD-6EFD-2D19-C01E2418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D5E447-0E45-097C-84E1-1B50C3D7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C2D9BD-676F-D266-75C7-F6AE09FF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5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9174A-CE4B-E23A-7966-7BE73CB2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69B8B4-AD88-3B3E-277D-CBBD312CB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37DA1D-D6D7-B743-77E7-D4B68F57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E0458B-781E-6708-068C-5A8FCB8F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614059-057E-94D3-E4D2-765F6835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3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8C2F3-057C-715F-4FB2-43DFC5FC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7BA94-2372-65D8-86D2-7E399E041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F703D9-CCAB-A7C4-ACB8-6FECB7D08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60FACF-0638-369F-7BBF-E3DF24CC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E94BAB-0946-49D4-094D-EEC08E26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10E022-EA06-BA3B-1733-A09D18F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81D13-F813-6A35-5C13-23C855D1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075747-30F9-CF79-2251-2D3157B79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37DB23-7E1F-1E62-FD6A-1715604FD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175754-E1B3-7053-8556-17D06CEEE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50EFE6-5101-E677-053E-194750F9A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B713ED-E406-CD79-CD2D-E2C93380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50F575-3D80-8EC8-A5BE-CC5F858D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0C103C-D2AE-8545-6C7B-C3614752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2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C930C-CE04-3A44-B6AC-CA8A85C7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1CA288-A7F3-A993-35BE-E871D7C4C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BE7C00-5DD4-2CE2-FC11-EE72BE8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E8E978-89D0-B419-DB58-29C33F7F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5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4A9329-8CF6-7BBD-265B-D5B92ACF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0B3626-A141-8A70-7E39-8621D0F5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1A5106-E24A-6AC6-0595-125700A5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6862A-3FC2-EC46-12CD-26510E9FD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1199A8-CEC8-DEF0-A791-E4B618F9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19059B-BC32-274E-5A0C-DA9F1F53F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87C24B-ED4E-0887-4755-B3B76E27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89A8A0-D69C-6C7C-A1AD-3E09ABE9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80E593-323A-930E-A268-5A0DA3E8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4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51A1B-00A9-1776-9127-9883AF1B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AE5A9C-95B5-2718-E8D4-A30F01CA5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C7501C-E62D-A854-15BE-8790E0052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739BD8-7854-3AFE-B669-E51BBCFB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A3803C-C584-9F5C-77E0-0153A46C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23CB0F-AB68-305C-7C99-F9593EEA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E0D06-2BAB-E38D-4A83-3273AD09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E16010-C01C-FC55-EEB6-857133727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2D8882-3E15-8C4D-2BA5-E3CBE52F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54D497-D837-D097-07DA-9A6C0CC5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5AB2CF-B7CC-4A55-701E-57D9057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7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47A4C0-67F6-F2AC-FAB2-210DD68CE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E1F324-B946-3BA9-D80E-87BD5251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A19E5C-0303-F759-5DAE-8F4B1CFB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C3BB05-953F-AD94-C8B2-EBC4A4E1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F7D765-EC9B-6180-8DD8-1B297C5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2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3F8C1-D954-C0F5-C19E-FA5030C0E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D0F0BF-7F11-BCDE-BC14-E049DA24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F05E75-2B22-8E4D-0CE7-4AA5EC235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EF244-660B-4F50-9073-D38E1A09241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043D2C-F6DB-D5F3-F8E0-1590463F1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51B27D-BBA7-D2D4-7963-975E74EF4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56605-B794-4EB1-8A40-8167ED3E8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B1E3C-B0DD-299F-632A-328933E61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4676" y="1479558"/>
            <a:ext cx="4339988" cy="25778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Results and what I learned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D5709E-1B95-1FD1-12EA-E7B304210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765" y="4149526"/>
            <a:ext cx="3624471" cy="899551"/>
          </a:xfrm>
        </p:spPr>
        <p:txBody>
          <a:bodyPr>
            <a:norm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35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3373B-497F-E24D-AC80-AC6CC345D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5571" y="-23063"/>
            <a:ext cx="3703788" cy="164151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Topics that I learned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F96202-24D4-748E-12DC-D1B77ACAB2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46593" y="1148178"/>
            <a:ext cx="6498813" cy="40684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Exploratory Data Analysis with Pandas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 Data Analysis with Python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Classification, Decision Trees and k-NN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Linear Classification and Regression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Ensembles and Random Forest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Engineering and Feature Selection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Unsupervised Learning: PCA and Clustering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Vowpal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Wabbit: Learning with Gigabytes of Data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Time Series Analysis with Python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Gradient Boosting </a:t>
            </a: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9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890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5E6DC-D7F0-5DE2-D3FB-DFB2C5CB5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7115" y="870937"/>
            <a:ext cx="3468301" cy="3270968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Most Challenging Aspects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355635-50B6-2BF2-424B-436BC3DB7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174" y="1328989"/>
            <a:ext cx="3931862" cy="3021630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Hyperparameter Tuning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Understanding parameter interactions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Balancing model complexity vs. performance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934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F4891-554B-43D0-4EB6-5A5F319D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474" y="418590"/>
            <a:ext cx="6124576" cy="22813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Most Interesting Aspects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908E80-9BA7-CCF4-5C1E-FB367B0DA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72514" y="3580598"/>
            <a:ext cx="6284462" cy="171812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 algn="r">
              <a:buFont typeface="+mj-lt"/>
              <a:buAutoNum type="arabicPeriod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Discovering Business Insights from Data</a:t>
            </a:r>
          </a:p>
          <a:p>
            <a:pPr marL="457200" indent="-457200" algn="r">
              <a:buFont typeface="+mj-lt"/>
              <a:buAutoNum type="arabicPeriod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good plots reveal data stories</a:t>
            </a:r>
          </a:p>
          <a:p>
            <a:pPr marL="457200" indent="-457200" algn="r">
              <a:buFont typeface="+mj-lt"/>
              <a:buAutoNum type="arabicPeriod"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Seeing Model Evolution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9972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A5C4A-A4C4-849E-293C-352BA643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Customer Churn Analysis</a:t>
            </a:r>
          </a:p>
        </p:txBody>
      </p:sp>
      <p:grpSp>
        <p:nvGrpSpPr>
          <p:cNvPr id="19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A1492B3C-8E9E-17CA-D5C0-B0DAB43C5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77270" y="685805"/>
            <a:ext cx="4974771" cy="55340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Objective: Predict which customers will leave (churn) and identify key factors driving churn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Original Data: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3,150 customer records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13 features + 1 target variable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 • Binary classification problem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After Cleaning: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2,850 records (removed 300 duplicates)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0 missing values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Ready for analysis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58CCE6-6E63-739F-E0AD-D392B0B5F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6" y="4126834"/>
            <a:ext cx="4628881" cy="26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2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36C71-0F49-2CB2-2E97-D753A6A1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344" y="36576"/>
            <a:ext cx="6124576" cy="60418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Analysis Result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4D4DC3-7AC0-7588-A9B3-AA29602D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655" y="1399032"/>
            <a:ext cx="3699880" cy="2912200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Top 5 Correlations with Churn: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Positive Correlations (increase churn):</a:t>
            </a:r>
          </a:p>
          <a:p>
            <a:r>
              <a:rPr lang="en-US" dirty="0">
                <a:solidFill>
                  <a:schemeClr val="bg1"/>
                </a:solidFill>
              </a:rPr>
              <a:t>1. Complains: +0.546  STRONGEST</a:t>
            </a:r>
          </a:p>
          <a:p>
            <a:r>
              <a:rPr lang="en-US" dirty="0">
                <a:solidFill>
                  <a:schemeClr val="bg1"/>
                </a:solidFill>
              </a:rPr>
              <a:t>2. Status: +0.493  VERY STRONG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Negative Correlations (decrease churn): </a:t>
            </a:r>
          </a:p>
          <a:p>
            <a:r>
              <a:rPr lang="en-US" dirty="0">
                <a:solidFill>
                  <a:schemeClr val="bg1"/>
                </a:solidFill>
              </a:rPr>
              <a:t>3. Frequency of use: -0.299 </a:t>
            </a:r>
          </a:p>
          <a:p>
            <a:r>
              <a:rPr lang="en-US" dirty="0">
                <a:solidFill>
                  <a:schemeClr val="bg1"/>
                </a:solidFill>
              </a:rPr>
              <a:t>4. Seconds of Use: -0.296 </a:t>
            </a:r>
          </a:p>
          <a:p>
            <a:r>
              <a:rPr lang="en-US" dirty="0">
                <a:solidFill>
                  <a:schemeClr val="bg1"/>
                </a:solidFill>
              </a:rPr>
              <a:t>5. Customer Value: -0.287</a:t>
            </a:r>
          </a:p>
          <a:p>
            <a:pPr algn="r"/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B68A30-A5A6-895C-285B-8662C82DB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225" y="640758"/>
            <a:ext cx="6415706" cy="584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0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6522B-7B41-CF95-8ED1-9CE44717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8702" y="12032"/>
            <a:ext cx="4908050" cy="6041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Visualizations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C3186A-FA8C-6608-6E15-CD3C63D33DAB}"/>
              </a:ext>
            </a:extLst>
          </p:cNvPr>
          <p:cNvSpPr>
            <a:spLocks/>
          </p:cNvSpPr>
          <p:nvPr>
            <p:ph type="body" idx="1"/>
          </p:nvPr>
        </p:nvSpPr>
        <p:spPr>
          <a:xfrm>
            <a:off x="1128339" y="6152949"/>
            <a:ext cx="4456598" cy="42110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r"/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8664547C-8C69-B367-C480-5BA8FAD6F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872" y="4570223"/>
            <a:ext cx="6154127" cy="2275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05A31A5-45B6-1E91-E2DC-FB0D39C00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8" y="924530"/>
            <a:ext cx="6015691" cy="594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9A0859A-A9DE-3EF3-087E-B867EA76E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442" y="2531443"/>
            <a:ext cx="6153721" cy="202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459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BFBA7-4047-6F61-7EF8-5A905912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984" y="320039"/>
            <a:ext cx="4544696" cy="6041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Machine Learning Models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00ABD4-DAD4-66A3-9969-F45C5CA8B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8702" y="1572768"/>
            <a:ext cx="6128274" cy="4773168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Logistic Regression</a:t>
            </a:r>
          </a:p>
          <a:p>
            <a:r>
              <a:rPr lang="en-US" dirty="0">
                <a:solidFill>
                  <a:schemeClr val="bg1"/>
                </a:solidFill>
              </a:rPr>
              <a:t> • Simple, interpretable baseline </a:t>
            </a:r>
          </a:p>
          <a:p>
            <a:r>
              <a:rPr lang="en-US" dirty="0">
                <a:solidFill>
                  <a:schemeClr val="bg1"/>
                </a:solidFill>
              </a:rPr>
              <a:t>• Linear decision boundary </a:t>
            </a:r>
          </a:p>
          <a:p>
            <a:r>
              <a:rPr lang="en-US" dirty="0">
                <a:solidFill>
                  <a:schemeClr val="bg1"/>
                </a:solidFill>
              </a:rPr>
              <a:t>• Fast training and prediction</a:t>
            </a:r>
          </a:p>
          <a:p>
            <a:r>
              <a:rPr lang="en-US" dirty="0">
                <a:solidFill>
                  <a:schemeClr val="bg1"/>
                </a:solidFill>
              </a:rPr>
              <a:t>Random Forest </a:t>
            </a:r>
          </a:p>
          <a:p>
            <a:r>
              <a:rPr lang="en-US" dirty="0">
                <a:solidFill>
                  <a:schemeClr val="bg1"/>
                </a:solidFill>
              </a:rPr>
              <a:t>• Ensemble of 100 decision trees </a:t>
            </a:r>
          </a:p>
          <a:p>
            <a:r>
              <a:rPr lang="en-US" dirty="0">
                <a:solidFill>
                  <a:schemeClr val="bg1"/>
                </a:solidFill>
              </a:rPr>
              <a:t>• Handles non-linear relationships </a:t>
            </a:r>
          </a:p>
          <a:p>
            <a:r>
              <a:rPr lang="en-US" dirty="0">
                <a:solidFill>
                  <a:schemeClr val="bg1"/>
                </a:solidFill>
              </a:rPr>
              <a:t>• Provides feature importance</a:t>
            </a:r>
          </a:p>
          <a:p>
            <a:r>
              <a:rPr lang="en-US" dirty="0" err="1">
                <a:solidFill>
                  <a:schemeClr val="bg1"/>
                </a:solidFill>
              </a:rPr>
              <a:t>XGBoost</a:t>
            </a:r>
            <a:r>
              <a:rPr lang="en-US" dirty="0">
                <a:solidFill>
                  <a:schemeClr val="bg1"/>
                </a:solidFill>
              </a:rPr>
              <a:t> (Gradient Boosting) </a:t>
            </a:r>
          </a:p>
          <a:p>
            <a:r>
              <a:rPr lang="en-US" dirty="0">
                <a:solidFill>
                  <a:schemeClr val="bg1"/>
                </a:solidFill>
              </a:rPr>
              <a:t>• State-of-the-art boosting algorithm </a:t>
            </a:r>
          </a:p>
          <a:p>
            <a:r>
              <a:rPr lang="en-US" dirty="0">
                <a:solidFill>
                  <a:schemeClr val="bg1"/>
                </a:solidFill>
              </a:rPr>
              <a:t>• Excellent for tabular data </a:t>
            </a:r>
          </a:p>
          <a:p>
            <a:r>
              <a:rPr lang="en-US" dirty="0">
                <a:solidFill>
                  <a:schemeClr val="bg1"/>
                </a:solidFill>
              </a:rPr>
              <a:t>• Built-in regularization</a:t>
            </a:r>
          </a:p>
          <a:p>
            <a:r>
              <a:rPr lang="en-US" dirty="0">
                <a:solidFill>
                  <a:schemeClr val="bg1"/>
                </a:solidFill>
              </a:rPr>
              <a:t>All models trained with proper techniques: </a:t>
            </a:r>
          </a:p>
          <a:p>
            <a:r>
              <a:rPr lang="en-US" dirty="0">
                <a:solidFill>
                  <a:schemeClr val="bg1"/>
                </a:solidFill>
              </a:rPr>
              <a:t>Stratified train-test split (80/20)  </a:t>
            </a:r>
          </a:p>
          <a:p>
            <a:r>
              <a:rPr lang="en-US" dirty="0">
                <a:solidFill>
                  <a:schemeClr val="bg1"/>
                </a:solidFill>
              </a:rPr>
              <a:t>Class imbalance handling</a:t>
            </a:r>
          </a:p>
          <a:p>
            <a:pPr algn="r"/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831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205C7-5830-6C60-954C-76514A12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92024"/>
            <a:ext cx="3438272" cy="7504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>
                <a:solidFill>
                  <a:schemeClr val="bg1"/>
                </a:solidFill>
              </a:rPr>
              <a:t>Cross-Validation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9631D9-3359-DC0E-C841-2983BACA9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6632" y="1024128"/>
            <a:ext cx="6675120" cy="549554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Validation Methodology: </a:t>
            </a:r>
          </a:p>
          <a:p>
            <a:r>
              <a:rPr lang="en-US" dirty="0">
                <a:solidFill>
                  <a:schemeClr val="bg1"/>
                </a:solidFill>
              </a:rPr>
              <a:t>• Stratified K-Fold (</a:t>
            </a:r>
            <a:r>
              <a:rPr lang="en-US" dirty="0" err="1">
                <a:solidFill>
                  <a:schemeClr val="bg1"/>
                </a:solidFill>
              </a:rPr>
              <a:t>n_splits</a:t>
            </a:r>
            <a:r>
              <a:rPr lang="en-US" dirty="0">
                <a:solidFill>
                  <a:schemeClr val="bg1"/>
                </a:solidFill>
              </a:rPr>
              <a:t>=5) </a:t>
            </a:r>
          </a:p>
          <a:p>
            <a:r>
              <a:rPr lang="en-US" dirty="0">
                <a:solidFill>
                  <a:schemeClr val="bg1"/>
                </a:solidFill>
              </a:rPr>
              <a:t>• Maintains class distribution in each fold </a:t>
            </a:r>
          </a:p>
          <a:p>
            <a:r>
              <a:rPr lang="en-US" dirty="0">
                <a:solidFill>
                  <a:schemeClr val="bg1"/>
                </a:solidFill>
              </a:rPr>
              <a:t>• Evaluates model stability</a:t>
            </a:r>
          </a:p>
          <a:p>
            <a:r>
              <a:rPr lang="en-US" dirty="0">
                <a:solidFill>
                  <a:schemeClr val="bg1"/>
                </a:solidFill>
              </a:rPr>
              <a:t>Benefits: </a:t>
            </a:r>
          </a:p>
          <a:p>
            <a:r>
              <a:rPr lang="en-US" dirty="0">
                <a:solidFill>
                  <a:schemeClr val="bg1"/>
                </a:solidFill>
              </a:rPr>
              <a:t>Better estimate of model performance </a:t>
            </a:r>
          </a:p>
          <a:p>
            <a:r>
              <a:rPr lang="en-US" dirty="0">
                <a:solidFill>
                  <a:schemeClr val="bg1"/>
                </a:solidFill>
              </a:rPr>
              <a:t>Detects overfitting </a:t>
            </a:r>
          </a:p>
          <a:p>
            <a:r>
              <a:rPr lang="en-US" dirty="0">
                <a:solidFill>
                  <a:schemeClr val="bg1"/>
                </a:solidFill>
              </a:rPr>
              <a:t>Ensures model generalizes well </a:t>
            </a:r>
          </a:p>
          <a:p>
            <a:r>
              <a:rPr lang="en-US" dirty="0">
                <a:solidFill>
                  <a:schemeClr val="bg1"/>
                </a:solidFill>
              </a:rPr>
              <a:t>More reliable than single train-test split</a:t>
            </a:r>
          </a:p>
          <a:p>
            <a:r>
              <a:rPr lang="en-US" dirty="0">
                <a:solidFill>
                  <a:schemeClr val="bg1"/>
                </a:solidFill>
              </a:rPr>
              <a:t>Metrics Evaluated: </a:t>
            </a:r>
          </a:p>
          <a:p>
            <a:r>
              <a:rPr lang="en-US" dirty="0">
                <a:solidFill>
                  <a:schemeClr val="bg1"/>
                </a:solidFill>
              </a:rPr>
              <a:t>Accuracy </a:t>
            </a:r>
          </a:p>
          <a:p>
            <a:r>
              <a:rPr lang="en-US" dirty="0">
                <a:solidFill>
                  <a:schemeClr val="bg1"/>
                </a:solidFill>
              </a:rPr>
              <a:t>ROC-AUC</a:t>
            </a:r>
          </a:p>
          <a:p>
            <a:r>
              <a:rPr lang="en-US" dirty="0">
                <a:solidFill>
                  <a:schemeClr val="bg1"/>
                </a:solidFill>
              </a:rPr>
              <a:t>• Precision, Recall, F1-Score</a:t>
            </a:r>
          </a:p>
          <a:p>
            <a:r>
              <a:rPr lang="en-US" dirty="0">
                <a:solidFill>
                  <a:schemeClr val="bg1"/>
                </a:solidFill>
              </a:rPr>
              <a:t>Result: All models showed consistent performance across folds (low variance = good generalization)</a:t>
            </a:r>
          </a:p>
          <a:p>
            <a:pPr algn="r"/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06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871C6-770E-21A8-9C55-14E1FC95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54" y="85382"/>
            <a:ext cx="7086600" cy="7436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Final model performance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79B84-2E50-0CA1-0A0C-D6CC92C77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461" y="914409"/>
            <a:ext cx="4386463" cy="3566482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Test Set Results (After Tuning):</a:t>
            </a:r>
          </a:p>
          <a:p>
            <a:r>
              <a:rPr lang="en-US" dirty="0">
                <a:solidFill>
                  <a:schemeClr val="bg1"/>
                </a:solidFill>
              </a:rPr>
              <a:t>Best Model: Random Forest / </a:t>
            </a:r>
            <a:r>
              <a:rPr lang="en-US" dirty="0" err="1">
                <a:solidFill>
                  <a:schemeClr val="bg1"/>
                </a:solidFill>
              </a:rPr>
              <a:t>XGBoost</a:t>
            </a:r>
            <a:r>
              <a:rPr lang="en-US" dirty="0">
                <a:solidFill>
                  <a:schemeClr val="bg1"/>
                </a:solidFill>
              </a:rPr>
              <a:t> (both achieved similar high performance)</a:t>
            </a:r>
          </a:p>
          <a:p>
            <a:r>
              <a:rPr lang="en-US" dirty="0">
                <a:solidFill>
                  <a:schemeClr val="bg1"/>
                </a:solidFill>
              </a:rPr>
              <a:t>Performance Metrics: </a:t>
            </a:r>
          </a:p>
          <a:p>
            <a:r>
              <a:rPr lang="en-US" dirty="0">
                <a:solidFill>
                  <a:schemeClr val="bg1"/>
                </a:solidFill>
              </a:rPr>
              <a:t>• ROC-AUC: ~0.95+</a:t>
            </a:r>
          </a:p>
          <a:p>
            <a:r>
              <a:rPr lang="en-US" dirty="0">
                <a:solidFill>
                  <a:schemeClr val="bg1"/>
                </a:solidFill>
              </a:rPr>
              <a:t>• Accuracy: ~90%+ </a:t>
            </a:r>
          </a:p>
          <a:p>
            <a:r>
              <a:rPr lang="en-US" dirty="0">
                <a:solidFill>
                  <a:schemeClr val="bg1"/>
                </a:solidFill>
              </a:rPr>
              <a:t>• Precision: High (few false positives) </a:t>
            </a:r>
          </a:p>
          <a:p>
            <a:r>
              <a:rPr lang="en-US" dirty="0">
                <a:solidFill>
                  <a:schemeClr val="bg1"/>
                </a:solidFill>
              </a:rPr>
              <a:t>• Recall: High (catches most churners)</a:t>
            </a:r>
          </a:p>
          <a:p>
            <a:r>
              <a:rPr lang="en-US" dirty="0">
                <a:solidFill>
                  <a:schemeClr val="bg1"/>
                </a:solidFill>
              </a:rPr>
              <a:t>Interpretation:  </a:t>
            </a:r>
          </a:p>
          <a:p>
            <a:r>
              <a:rPr lang="en-US" dirty="0">
                <a:solidFill>
                  <a:schemeClr val="bg1"/>
                </a:solidFill>
              </a:rPr>
              <a:t>Can identify 80%+ of churners before they leave </a:t>
            </a:r>
          </a:p>
          <a:p>
            <a:r>
              <a:rPr lang="en-US" dirty="0">
                <a:solidFill>
                  <a:schemeClr val="bg1"/>
                </a:solidFill>
              </a:rPr>
              <a:t> Model is production-ready </a:t>
            </a:r>
          </a:p>
          <a:p>
            <a:r>
              <a:rPr lang="en-US" dirty="0">
                <a:solidFill>
                  <a:schemeClr val="bg1"/>
                </a:solidFill>
              </a:rPr>
              <a:t> Significant business value potential</a:t>
            </a:r>
          </a:p>
          <a:p>
            <a:r>
              <a:rPr lang="en-US" dirty="0">
                <a:solidFill>
                  <a:schemeClr val="bg1"/>
                </a:solidFill>
              </a:rPr>
              <a:t>All 3 models performed well, showing robust patterns in the data</a:t>
            </a:r>
          </a:p>
          <a:p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9997530-96D4-3CAB-163B-D3847B899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309" y="521674"/>
            <a:ext cx="4063684" cy="324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D222B0-39AF-4D6F-8EEA-EA066DCF1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012" y="3767813"/>
            <a:ext cx="7311992" cy="309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2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B4559-234F-18AB-72F8-7DD1D05A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40" y="0"/>
            <a:ext cx="9264275" cy="13837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Feature Importance Analysis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1E8285-F105-2A2B-72E8-D3AE006BB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41" y="1383725"/>
            <a:ext cx="7208197" cy="12651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Best predictor “Status”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47DF7C6-280F-F703-A754-CCCB0861F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70" y="3429000"/>
            <a:ext cx="11528533" cy="343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843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329CF-2B0B-6EDD-2B6C-1041ACCF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49" y="44234"/>
            <a:ext cx="8494776" cy="8259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Key Learnings from the Course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97E764-6C63-BE45-22E9-22C1D9921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3" y="1572768"/>
            <a:ext cx="10305288" cy="4632834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Technical Skills: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Pandas mastery for data manipulation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Professional data visualization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ML model selection and evaluation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Cross-validation and grid search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Handling imbalanced data</a:t>
            </a:r>
          </a:p>
          <a:p>
            <a:r>
              <a:rPr lang="en-US" dirty="0">
                <a:solidFill>
                  <a:schemeClr val="bg1"/>
                </a:solidFill>
              </a:rPr>
              <a:t>Conceptual Understanding: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Why ensemble methods outperform single models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Importance of proper validation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Feature importance for interpretability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Business value of ML insights</a:t>
            </a:r>
          </a:p>
          <a:p>
            <a:r>
              <a:rPr lang="en-US" dirty="0">
                <a:solidFill>
                  <a:schemeClr val="bg1"/>
                </a:solidFill>
              </a:rPr>
              <a:t>Best Practices: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Always start with EDA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Use multiple evaluation metrics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Validate assumptions with data</a:t>
            </a:r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16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5238D-8F75-F2D1-A6AE-C7A7497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32" y="64008"/>
            <a:ext cx="2331720" cy="65220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Summary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10B3B5-5859-5DF3-2489-1DF84D65E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461" y="716214"/>
            <a:ext cx="10997539" cy="37646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Course Journey: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Completed 10 out of 10 topics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Mastered foundational ML techniques </a:t>
            </a:r>
          </a:p>
          <a:p>
            <a:r>
              <a:rPr lang="en-US" dirty="0">
                <a:solidFill>
                  <a:schemeClr val="bg1"/>
                </a:solidFill>
              </a:rPr>
              <a:t>Project Results: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Analyzed 2,850 customer records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Trained 3 optimized ML models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Achieved ~95% ROC-AUC score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Delivered actionable business insights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9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D6498-5A02-748B-3672-4C3A19BF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61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549</Words>
  <Application>Microsoft Office PowerPoint</Application>
  <PresentationFormat>Широкоэкранный</PresentationFormat>
  <Paragraphs>117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Тема Office</vt:lpstr>
      <vt:lpstr>Results and what I learned</vt:lpstr>
      <vt:lpstr>Topics that I learned</vt:lpstr>
      <vt:lpstr>Most Challenging Aspects</vt:lpstr>
      <vt:lpstr>Most Interesting Aspects</vt:lpstr>
      <vt:lpstr>Customer Churn Analysis</vt:lpstr>
      <vt:lpstr>Correlation Analysis Result</vt:lpstr>
      <vt:lpstr>Data Visualizations</vt:lpstr>
      <vt:lpstr>Machine Learning Models</vt:lpstr>
      <vt:lpstr>Cross-Validation</vt:lpstr>
      <vt:lpstr>Final model performance</vt:lpstr>
      <vt:lpstr>Feature Importance Analysis</vt:lpstr>
      <vt:lpstr>Key Learnings from the Course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Oleksii Burianov</dc:creator>
  <cp:lastModifiedBy>Oleksii Burianov</cp:lastModifiedBy>
  <cp:revision>1</cp:revision>
  <dcterms:created xsi:type="dcterms:W3CDTF">2025-12-01T07:02:35Z</dcterms:created>
  <dcterms:modified xsi:type="dcterms:W3CDTF">2025-12-01T07:35:41Z</dcterms:modified>
</cp:coreProperties>
</file>
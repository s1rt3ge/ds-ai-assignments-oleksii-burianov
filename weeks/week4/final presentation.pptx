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86416-332E-9CBA-2D2B-40F555862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928BE2-15BE-DA97-24AF-3AC33184E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B20505-3387-3775-9EC8-0212BCB3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ECA33-C385-E7B5-BD01-D0546855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F84F5D-C140-DAE4-B1A5-49403C26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558C3-D931-D6C3-CB5D-23C240B3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1B9CF-E44C-31C5-B008-5542956A5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CA3BF9-EB0E-B108-8D23-31BF1946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9445BA-0130-D7E7-275D-3B937621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A1DD3-2C1F-F3E0-2270-8E4FB1CB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B78FB-C4D9-8D35-B218-3AFD6EC3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D752FD-5FAB-E027-EEB2-CC4449C02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3EF5AF-2F5A-E92C-E1B3-EB66AEEC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932C11-23F6-3634-E72A-6CC66780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B73BDF-721D-5045-8C30-D190CCB1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46ABB-E358-2357-0FE5-BD5C6BBD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B1D795-DE77-67AB-2959-19A0A2A94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8E9491-2513-5833-774B-71B02405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37F938-9BB0-2B65-BC35-848D10B7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8D3DF3-6557-63E6-2FD3-BEAC69B5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9CF992-0A61-CF5E-0E9F-CEC82A38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0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089-8C73-D707-26FA-186FD83B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834A6-B85F-49BC-0258-1D697C2A5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48652E-485E-4344-91F0-758418207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60FE69-2047-92BA-C22C-DB042F550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2F73137-A561-0B18-3576-80E2800AD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0DFED3-EDCD-424F-FB98-9EF1FED4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D57F72-F22B-663B-395C-C3C5602E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D33F35-B216-BA57-5BF3-D7449DD8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8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DEF6A-D939-0754-55D5-90B3857E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2FFCDD-6195-A032-4A5E-015DE251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1AD580-0547-DE41-DEA3-68D8DCA3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3CA285-51A3-34D6-A8AA-C9D6BCD6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E01ED4C-DDF7-D0EA-14B9-6FB5BADE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A8803E-09A9-EED7-C304-61A65EED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0E6C6B-DDF9-B889-B76B-ECCCEFF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9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0F494-555C-F0B3-F78E-A53A6FF6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EDF1-8454-373A-60A3-A958E3E90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A5CA7-A5DE-30E0-DFA8-90897E1C9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7C4111-F9F0-7923-33DA-77817C24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D65094-93E0-B60D-9495-CC6720DD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BC8E9A-F174-6590-1EA9-F72AF92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1B373-C8F4-8192-98BA-35CAC262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9E3117-0D0B-E002-1E17-03738F319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DB768D-C507-E646-55BC-C0A460332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1A647D-0532-CFA3-FE51-83EC9C8F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11349E-BB05-4427-B669-555BD8CC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70B1DF-DB4C-16A2-1494-34CA2903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F6919-0BA7-03A8-E231-45AA2F02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344DB-8D80-A894-FDC5-2AB29389F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9C924F-9D6A-CA1D-8164-B9586173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20D1B-7928-A844-6FE6-D5EA6414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D6A51-3E1B-66AF-320D-712E0993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3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C728102-6D45-F6B6-085E-95869A439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55D045-EE66-97EE-D4A0-9C3D364EF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918527-1230-6830-F9ED-A91CF993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BEA8E-6EA9-6BA6-B5D4-4E918A04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C019B-162D-515D-BF20-9AD7653B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9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5F6E1-2D47-AA67-7232-D6DFE459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F67C0-656E-6754-B51C-DFFAEAE76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F3C3DC-08F8-1A00-A1BE-BAA11306B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79D11-A7E2-4669-9C17-2AA9E8A0E29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0DD743-C672-0C7E-8B29-31B9533A0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47EFD3-71C3-41DA-C547-F2C75789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D11BF-19BD-482D-B433-19CC7C389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BD85F-6B03-F0B7-A6AA-6C3420311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193800"/>
            <a:ext cx="9144000" cy="2387600"/>
          </a:xfrm>
        </p:spPr>
        <p:txBody>
          <a:bodyPr/>
          <a:lstStyle/>
          <a:p>
            <a:r>
              <a:rPr lang="en-US" dirty="0"/>
              <a:t>Transformers Architecture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7838CF-C534-2165-D8D5-C8DBE86AC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811" y="1193800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Three types:</a:t>
            </a:r>
            <a:endParaRPr lang="en-US" sz="2000" dirty="0"/>
          </a:p>
          <a:p>
            <a:pPr algn="l"/>
            <a:r>
              <a:rPr lang="en-US" sz="2000" dirty="0"/>
              <a:t>Encoder - understands context (BERT, </a:t>
            </a:r>
            <a:r>
              <a:rPr lang="en-US" sz="2000" dirty="0" err="1"/>
              <a:t>RoBERTa</a:t>
            </a:r>
            <a:r>
              <a:rPr lang="en-US" sz="2000" dirty="0"/>
              <a:t>)</a:t>
            </a:r>
          </a:p>
          <a:p>
            <a:pPr algn="l"/>
            <a:r>
              <a:rPr lang="en-US" sz="2000" dirty="0"/>
              <a:t>Decoder - generates text (GPT, GPT-2)</a:t>
            </a:r>
          </a:p>
          <a:p>
            <a:pPr algn="l"/>
            <a:r>
              <a:rPr lang="en-US" sz="2000" dirty="0"/>
              <a:t>Encoder-Decoder - translation, summarization (T5, BART)</a:t>
            </a:r>
          </a:p>
          <a:p>
            <a:pPr algn="l"/>
            <a:r>
              <a:rPr lang="en-US" sz="2000" b="1" dirty="0"/>
              <a:t>Transfer Learning:</a:t>
            </a:r>
            <a:endParaRPr lang="en-US" sz="2000" dirty="0"/>
          </a:p>
          <a:p>
            <a:pPr algn="l"/>
            <a:r>
              <a:rPr lang="en-US" sz="2000" dirty="0"/>
              <a:t>Pre-trained on billions of texts</a:t>
            </a:r>
          </a:p>
          <a:p>
            <a:pPr algn="l"/>
            <a:r>
              <a:rPr lang="en-US" sz="2000" dirty="0"/>
              <a:t>Fine-tune for specific task</a:t>
            </a:r>
          </a:p>
          <a:p>
            <a:pPr algn="l"/>
            <a:r>
              <a:rPr lang="en-US" sz="2000" dirty="0"/>
              <a:t>pipeline() - ready-to-use pipelines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922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79774-AA70-3884-F9B2-BFCDA22E6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83693"/>
            <a:ext cx="10515600" cy="2852737"/>
          </a:xfrm>
        </p:spPr>
        <p:txBody>
          <a:bodyPr/>
          <a:lstStyle/>
          <a:p>
            <a:r>
              <a:rPr lang="en-US" dirty="0"/>
              <a:t>Tokenization Types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59322F-5BC5-DAD2-AF05-A21498A1F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314" y="6388766"/>
            <a:ext cx="10515600" cy="150018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0B76B22-D8D6-A392-4E8F-F8D821769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412300"/>
              </p:ext>
            </p:extLst>
          </p:nvPr>
        </p:nvGraphicFramePr>
        <p:xfrm>
          <a:off x="629652" y="2047733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977180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36824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7431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Pros/Cons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4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Word-based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"playing" → ["playing"]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Huge vocab, OOV 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134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"cat" → ["c","a","t"]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vocab, loses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Subword (BPE)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"playing" → ["play","ing"]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Balance, no OOV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0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FC4FB-95BE-7BFF-B09B-C9F50C9A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-1915777"/>
            <a:ext cx="10515600" cy="2852737"/>
          </a:xfrm>
        </p:spPr>
        <p:txBody>
          <a:bodyPr/>
          <a:lstStyle/>
          <a:p>
            <a:r>
              <a:rPr lang="en-US" dirty="0"/>
              <a:t>Text Preprocessing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F2D1A9-3B6E-5296-C4FE-3FC9F8D0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756" y="1140410"/>
            <a:ext cx="11183686" cy="518017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Pipeline steps:</a:t>
            </a:r>
          </a:p>
          <a:p>
            <a:r>
              <a:rPr lang="en-US" b="1" dirty="0">
                <a:solidFill>
                  <a:schemeClr val="tx1"/>
                </a:solidFill>
              </a:rPr>
              <a:t>Lowercasing - "HELLO" → "hello"</a:t>
            </a:r>
          </a:p>
          <a:p>
            <a:r>
              <a:rPr lang="en-US" b="1" dirty="0">
                <a:solidFill>
                  <a:schemeClr val="tx1"/>
                </a:solidFill>
              </a:rPr>
              <a:t>Tokenization - split into </a:t>
            </a:r>
            <a:r>
              <a:rPr lang="en-US" b="1" dirty="0" err="1">
                <a:solidFill>
                  <a:schemeClr val="tx1"/>
                </a:solidFill>
              </a:rPr>
              <a:t>tokensa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err="1">
                <a:solidFill>
                  <a:schemeClr val="tx1"/>
                </a:solidFill>
              </a:rPr>
              <a:t>Stopword</a:t>
            </a:r>
            <a:r>
              <a:rPr lang="en-US" b="1" dirty="0">
                <a:solidFill>
                  <a:schemeClr val="tx1"/>
                </a:solidFill>
              </a:rPr>
              <a:t> removal - remove "the", "is", "a"</a:t>
            </a:r>
          </a:p>
          <a:p>
            <a:r>
              <a:rPr lang="en-US" b="1" dirty="0">
                <a:solidFill>
                  <a:schemeClr val="tx1"/>
                </a:solidFill>
              </a:rPr>
              <a:t>Stemming - playing → play (suffix cutting)</a:t>
            </a:r>
          </a:p>
          <a:p>
            <a:r>
              <a:rPr lang="en-US" b="1" dirty="0">
                <a:solidFill>
                  <a:schemeClr val="tx1"/>
                </a:solidFill>
              </a:rPr>
              <a:t>Lemmatization - better → good (dictionary form)</a:t>
            </a:r>
          </a:p>
          <a:p>
            <a:r>
              <a:rPr lang="en-US" b="1" dirty="0">
                <a:solidFill>
                  <a:schemeClr val="tx1"/>
                </a:solidFill>
              </a:rPr>
              <a:t>Vectorization methods:</a:t>
            </a:r>
          </a:p>
          <a:p>
            <a:r>
              <a:rPr lang="en-US" b="1" dirty="0">
                <a:solidFill>
                  <a:schemeClr val="tx1"/>
                </a:solidFill>
              </a:rPr>
              <a:t>Bag of Words (</a:t>
            </a:r>
            <a:r>
              <a:rPr lang="en-US" b="1" dirty="0" err="1">
                <a:solidFill>
                  <a:schemeClr val="tx1"/>
                </a:solidFill>
              </a:rPr>
              <a:t>BoW</a:t>
            </a:r>
            <a:r>
              <a:rPr lang="en-US" b="1" dirty="0">
                <a:solidFill>
                  <a:schemeClr val="tx1"/>
                </a:solidFill>
              </a:rPr>
              <a:t>) - word frequency</a:t>
            </a:r>
          </a:p>
          <a:p>
            <a:r>
              <a:rPr lang="en-US" b="1" dirty="0">
                <a:solidFill>
                  <a:schemeClr val="tx1"/>
                </a:solidFill>
              </a:rPr>
              <a:t>TF-IDF - importance in document vs corpus</a:t>
            </a:r>
          </a:p>
          <a:p>
            <a:r>
              <a:rPr lang="en-US" b="1" dirty="0">
                <a:solidFill>
                  <a:schemeClr val="tx1"/>
                </a:solidFill>
              </a:rPr>
              <a:t>Word Embeddings (Word2Vec, </a:t>
            </a:r>
            <a:r>
              <a:rPr lang="en-US" b="1" dirty="0" err="1">
                <a:solidFill>
                  <a:schemeClr val="tx1"/>
                </a:solidFill>
              </a:rPr>
              <a:t>GloVe</a:t>
            </a:r>
            <a:r>
              <a:rPr lang="en-US" b="1" dirty="0">
                <a:solidFill>
                  <a:schemeClr val="tx1"/>
                </a:solidFill>
              </a:rPr>
              <a:t>) - semantic vectors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62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55A68-463B-0E74-2274-038C731D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15778"/>
            <a:ext cx="10515600" cy="2852737"/>
          </a:xfrm>
        </p:spPr>
        <p:txBody>
          <a:bodyPr/>
          <a:lstStyle/>
          <a:p>
            <a:r>
              <a:rPr lang="en-US"/>
              <a:t>TF-IDF Formula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55EBF7-0E28-C3E0-4F25-0756CA83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3821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Key idea: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High TF-IDF = word is important for this document</a:t>
            </a:r>
          </a:p>
          <a:p>
            <a:r>
              <a:rPr lang="en-US" dirty="0">
                <a:solidFill>
                  <a:schemeClr val="tx1"/>
                </a:solidFill>
              </a:rPr>
              <a:t>Rare words get higher weight</a:t>
            </a:r>
          </a:p>
          <a:p>
            <a:r>
              <a:rPr lang="en-US" dirty="0">
                <a:solidFill>
                  <a:schemeClr val="tx1"/>
                </a:solidFill>
              </a:rPr>
              <a:t>Common words ("the", "is") get low weight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D629B-8C4E-B304-DDC0-ADACC75F83E0}"/>
              </a:ext>
            </a:extLst>
          </p:cNvPr>
          <p:cNvSpPr txBox="1"/>
          <p:nvPr/>
        </p:nvSpPr>
        <p:spPr>
          <a:xfrm>
            <a:off x="838200" y="194128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TF-IDF = TF(</a:t>
            </a:r>
            <a:r>
              <a:rPr lang="en-US" dirty="0" err="1"/>
              <a:t>t,d</a:t>
            </a:r>
            <a:r>
              <a:rPr lang="en-US" dirty="0"/>
              <a:t>) × IDF(t)</a:t>
            </a:r>
          </a:p>
          <a:p>
            <a:endParaRPr lang="en-US" dirty="0"/>
          </a:p>
          <a:p>
            <a:r>
              <a:rPr lang="en-US" dirty="0"/>
              <a:t>TF = (word count in document) / (total words in document)</a:t>
            </a:r>
          </a:p>
          <a:p>
            <a:r>
              <a:rPr lang="en-US" dirty="0"/>
              <a:t>IDF = log(total documents / documents containing word)</a:t>
            </a:r>
          </a:p>
        </p:txBody>
      </p:sp>
    </p:spTree>
    <p:extLst>
      <p:ext uri="{BB962C8B-B14F-4D97-AF65-F5344CB8AC3E}">
        <p14:creationId xmlns:p14="http://schemas.microsoft.com/office/powerpoint/2010/main" val="172372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C29FE-2D99-AD58-8C3E-BBEDF710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35567"/>
            <a:ext cx="10515600" cy="2852737"/>
          </a:xfrm>
        </p:spPr>
        <p:txBody>
          <a:bodyPr/>
          <a:lstStyle/>
          <a:p>
            <a:r>
              <a:rPr lang="en-US" dirty="0"/>
              <a:t>Named entity recognition(NER)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062781-79FF-7204-712A-E0ED06B1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811" y="1524001"/>
            <a:ext cx="10657639" cy="45656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Entity types: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PERSON - people names</a:t>
            </a:r>
          </a:p>
          <a:p>
            <a:r>
              <a:rPr lang="en-US" dirty="0">
                <a:solidFill>
                  <a:schemeClr val="tx1"/>
                </a:solidFill>
              </a:rPr>
              <a:t>ORG - organizations</a:t>
            </a:r>
          </a:p>
          <a:p>
            <a:r>
              <a:rPr lang="en-US" dirty="0">
                <a:solidFill>
                  <a:schemeClr val="tx1"/>
                </a:solidFill>
              </a:rPr>
              <a:t>GPE - countries, cities</a:t>
            </a:r>
          </a:p>
          <a:p>
            <a:r>
              <a:rPr lang="en-US" dirty="0">
                <a:solidFill>
                  <a:schemeClr val="tx1"/>
                </a:solidFill>
              </a:rPr>
              <a:t>DATE - dates</a:t>
            </a:r>
          </a:p>
          <a:p>
            <a:r>
              <a:rPr lang="en-US" dirty="0">
                <a:solidFill>
                  <a:schemeClr val="tx1"/>
                </a:solidFill>
              </a:rPr>
              <a:t>MONEY - monetary values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30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65C85-295F-145B-90EF-F89366C2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260" y="-1819525"/>
            <a:ext cx="10515600" cy="2852737"/>
          </a:xfrm>
        </p:spPr>
        <p:txBody>
          <a:bodyPr/>
          <a:lstStyle/>
          <a:p>
            <a:r>
              <a:rPr lang="en-US" dirty="0"/>
              <a:t>PRACTICAL PROJECT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8F22B0-23FC-0921-2C1D-FB86C112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516" y="1033213"/>
            <a:ext cx="10769934" cy="50564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Goal:</a:t>
            </a:r>
            <a:r>
              <a:rPr lang="en-US" dirty="0">
                <a:solidFill>
                  <a:schemeClr val="tx1"/>
                </a:solidFill>
              </a:rPr>
              <a:t> Extract sentiment and key themes from customer feedback</a:t>
            </a:r>
          </a:p>
          <a:p>
            <a:r>
              <a:rPr lang="en-US" b="1" dirty="0">
                <a:solidFill>
                  <a:schemeClr val="tx1"/>
                </a:solidFill>
              </a:rPr>
              <a:t>Dataset:</a:t>
            </a:r>
            <a:r>
              <a:rPr lang="en-US" dirty="0">
                <a:solidFill>
                  <a:schemeClr val="tx1"/>
                </a:solidFill>
              </a:rPr>
              <a:t> 24,783 tweets (CrowdFlower labeled)</a:t>
            </a:r>
          </a:p>
          <a:p>
            <a:r>
              <a:rPr lang="en-US" dirty="0" err="1">
                <a:solidFill>
                  <a:schemeClr val="tx1"/>
                </a:solidFill>
              </a:rPr>
              <a:t>offensive_language</a:t>
            </a:r>
            <a:r>
              <a:rPr lang="en-US" dirty="0">
                <a:solidFill>
                  <a:schemeClr val="tx1"/>
                </a:solidFill>
              </a:rPr>
              <a:t>: 77.4%</a:t>
            </a:r>
          </a:p>
          <a:p>
            <a:r>
              <a:rPr lang="en-US" dirty="0">
                <a:solidFill>
                  <a:schemeClr val="tx1"/>
                </a:solidFill>
              </a:rPr>
              <a:t>neither: 16.8%</a:t>
            </a:r>
          </a:p>
          <a:p>
            <a:r>
              <a:rPr lang="en-US" dirty="0" err="1">
                <a:solidFill>
                  <a:schemeClr val="tx1"/>
                </a:solidFill>
              </a:rPr>
              <a:t>hate_speech</a:t>
            </a:r>
            <a:r>
              <a:rPr lang="en-US" dirty="0">
                <a:solidFill>
                  <a:schemeClr val="tx1"/>
                </a:solidFill>
              </a:rPr>
              <a:t>: 5.8%</a:t>
            </a:r>
          </a:p>
          <a:p>
            <a:r>
              <a:rPr lang="en-US" b="1" dirty="0">
                <a:solidFill>
                  <a:schemeClr val="tx1"/>
                </a:solidFill>
              </a:rPr>
              <a:t>Success Criteria: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Text preprocessing (lowercasing, </a:t>
            </a:r>
            <a:r>
              <a:rPr lang="en-US" dirty="0" err="1">
                <a:solidFill>
                  <a:schemeClr val="tx1"/>
                </a:solidFill>
              </a:rPr>
              <a:t>stopwords</a:t>
            </a:r>
            <a:r>
              <a:rPr lang="en-US" dirty="0">
                <a:solidFill>
                  <a:schemeClr val="tx1"/>
                </a:solidFill>
              </a:rPr>
              <a:t>, tokenization)</a:t>
            </a:r>
          </a:p>
          <a:p>
            <a:r>
              <a:rPr lang="en-US" dirty="0">
                <a:solidFill>
                  <a:schemeClr val="tx1"/>
                </a:solidFill>
              </a:rPr>
              <a:t>Sentiment analysis using pre-trained models</a:t>
            </a:r>
          </a:p>
          <a:p>
            <a:r>
              <a:rPr lang="en-US" dirty="0">
                <a:solidFill>
                  <a:schemeClr val="tx1"/>
                </a:solidFill>
              </a:rPr>
              <a:t>Classify positive vs negative feedback</a:t>
            </a:r>
          </a:p>
          <a:p>
            <a:r>
              <a:rPr lang="en-US" dirty="0">
                <a:solidFill>
                  <a:schemeClr val="tx1"/>
                </a:solidFill>
              </a:rPr>
              <a:t>Identify 3-5 key themes using TF-IDF or LDA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31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CAB1FF-0C3D-C5E8-B511-48E3972C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881" y="-1851609"/>
            <a:ext cx="10515600" cy="2852737"/>
          </a:xfrm>
        </p:spPr>
        <p:txBody>
          <a:bodyPr/>
          <a:lstStyle/>
          <a:p>
            <a:r>
              <a:rPr lang="en-US" dirty="0"/>
              <a:t>Preprocessing Pipeline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E9547A-CE50-46D6-576F-1FD772DEB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01129"/>
            <a:ext cx="10737850" cy="508852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Steps applied: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Lowercase</a:t>
            </a:r>
          </a:p>
          <a:p>
            <a:r>
              <a:rPr lang="en-US" dirty="0">
                <a:solidFill>
                  <a:schemeClr val="tx1"/>
                </a:solidFill>
              </a:rPr>
              <a:t>URL removal</a:t>
            </a:r>
          </a:p>
          <a:p>
            <a:r>
              <a:rPr lang="en-US" dirty="0">
                <a:solidFill>
                  <a:schemeClr val="tx1"/>
                </a:solidFill>
              </a:rPr>
              <a:t>Mention removal (@user)</a:t>
            </a:r>
          </a:p>
          <a:p>
            <a:r>
              <a:rPr lang="en-US" dirty="0">
                <a:solidFill>
                  <a:schemeClr val="tx1"/>
                </a:solidFill>
              </a:rPr>
              <a:t>HTML decode (&amp; → and)</a:t>
            </a:r>
          </a:p>
          <a:p>
            <a:r>
              <a:rPr lang="en-US" dirty="0">
                <a:solidFill>
                  <a:schemeClr val="tx1"/>
                </a:solidFill>
              </a:rPr>
              <a:t>Special character removal</a:t>
            </a:r>
          </a:p>
          <a:p>
            <a:r>
              <a:rPr lang="en-US" dirty="0">
                <a:solidFill>
                  <a:schemeClr val="tx1"/>
                </a:solidFill>
              </a:rPr>
              <a:t>Tokenization (whitespace split)</a:t>
            </a:r>
          </a:p>
          <a:p>
            <a:r>
              <a:rPr lang="en-US" dirty="0" err="1">
                <a:solidFill>
                  <a:schemeClr val="tx1"/>
                </a:solidFill>
              </a:rPr>
              <a:t>Stopword</a:t>
            </a:r>
            <a:r>
              <a:rPr lang="en-US" dirty="0">
                <a:solidFill>
                  <a:schemeClr val="tx1"/>
                </a:solidFill>
              </a:rPr>
              <a:t> removal (</a:t>
            </a:r>
            <a:r>
              <a:rPr lang="en-US" dirty="0" err="1">
                <a:solidFill>
                  <a:schemeClr val="tx1"/>
                </a:solidFill>
              </a:rPr>
              <a:t>sklearn</a:t>
            </a:r>
            <a:r>
              <a:rPr lang="en-US" dirty="0">
                <a:solidFill>
                  <a:schemeClr val="tx1"/>
                </a:solidFill>
              </a:rPr>
              <a:t> + 40 custom)</a:t>
            </a:r>
          </a:p>
          <a:p>
            <a:r>
              <a:rPr lang="en-US" dirty="0">
                <a:solidFill>
                  <a:schemeClr val="tx1"/>
                </a:solidFill>
              </a:rPr>
              <a:t>Basic stemming (-</a:t>
            </a:r>
            <a:r>
              <a:rPr lang="en-US" dirty="0" err="1">
                <a:solidFill>
                  <a:schemeClr val="tx1"/>
                </a:solidFill>
              </a:rPr>
              <a:t>ing</a:t>
            </a:r>
            <a:r>
              <a:rPr lang="en-US" dirty="0">
                <a:solidFill>
                  <a:schemeClr val="tx1"/>
                </a:solidFill>
              </a:rPr>
              <a:t>, -ed removal)</a:t>
            </a:r>
          </a:p>
          <a:p>
            <a:r>
              <a:rPr lang="en-US" b="1" dirty="0">
                <a:solidFill>
                  <a:schemeClr val="tx1"/>
                </a:solidFill>
              </a:rPr>
              <a:t>Result:</a:t>
            </a:r>
            <a:r>
              <a:rPr lang="en-US" dirty="0">
                <a:solidFill>
                  <a:schemeClr val="tx1"/>
                </a:solidFill>
              </a:rPr>
              <a:t> 24,783 → 24,778 samples (5 empty removed)</a:t>
            </a:r>
          </a:p>
        </p:txBody>
      </p:sp>
    </p:spTree>
    <p:extLst>
      <p:ext uri="{BB962C8B-B14F-4D97-AF65-F5344CB8AC3E}">
        <p14:creationId xmlns:p14="http://schemas.microsoft.com/office/powerpoint/2010/main" val="24462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2E57C-D915-56F7-8716-2D1AD962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7441"/>
            <a:ext cx="10515600" cy="2852737"/>
          </a:xfrm>
        </p:spPr>
        <p:txBody>
          <a:bodyPr/>
          <a:lstStyle/>
          <a:p>
            <a:r>
              <a:rPr lang="en-US" dirty="0"/>
              <a:t>Sentiment Analysis Methods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C8F85C-F16E-AFF3-6E36-9B7BFD62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65297"/>
            <a:ext cx="4700337" cy="5024354"/>
          </a:xfrm>
        </p:spPr>
        <p:txBody>
          <a:bodyPr/>
          <a:lstStyle/>
          <a:p>
            <a:r>
              <a:rPr lang="en-US" b="1" dirty="0"/>
              <a:t>Ensemble logic:</a:t>
            </a:r>
            <a:endParaRPr lang="en-US" dirty="0"/>
          </a:p>
          <a:p>
            <a:r>
              <a:rPr lang="en-US" dirty="0"/>
              <a:t>If both agree → use that</a:t>
            </a:r>
          </a:p>
          <a:p>
            <a:r>
              <a:rPr lang="en-US" dirty="0"/>
              <a:t>If one is NEUTRAL → use the other</a:t>
            </a:r>
          </a:p>
          <a:p>
            <a:r>
              <a:rPr lang="en-US" dirty="0"/>
              <a:t>Otherwise → prefer VADER (social media)</a:t>
            </a:r>
          </a:p>
          <a:p>
            <a:r>
              <a:rPr lang="en-US" b="1" dirty="0"/>
              <a:t>Final result:</a:t>
            </a:r>
            <a:endParaRPr lang="en-US" dirty="0"/>
          </a:p>
          <a:p>
            <a:r>
              <a:rPr lang="en-US" dirty="0"/>
              <a:t>NEGATIVE: 61.7% (15,282)</a:t>
            </a:r>
          </a:p>
          <a:p>
            <a:r>
              <a:rPr lang="en-US" dirty="0"/>
              <a:t>POSITIVE: 23.7% (5,874)</a:t>
            </a:r>
          </a:p>
          <a:p>
            <a:r>
              <a:rPr lang="en-US" dirty="0"/>
              <a:t>NEUTRAL: 14.6% (3,622)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Рисунок 4" descr="Изображение выглядит как текст, диаграмма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6AC39-3E38-3C05-D5D3-1BDEFC63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463" y="1125597"/>
            <a:ext cx="5396174" cy="460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7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F1C3A-7EF8-75B0-80FC-D05D3661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092" y="-2084387"/>
            <a:ext cx="10515600" cy="2852737"/>
          </a:xfrm>
        </p:spPr>
        <p:txBody>
          <a:bodyPr/>
          <a:lstStyle/>
          <a:p>
            <a:r>
              <a:rPr lang="en-US" dirty="0"/>
              <a:t>Sentiment validation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498846-F8C1-B1EC-79CE-FCC04AB13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614113"/>
            <a:ext cx="4157245" cy="34755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Conclusion: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Hate speech correctly identified as NEGATIVE (70%)</a:t>
            </a:r>
          </a:p>
          <a:p>
            <a:r>
              <a:rPr lang="en-US" dirty="0">
                <a:solidFill>
                  <a:schemeClr val="tx1"/>
                </a:solidFill>
              </a:rPr>
              <a:t>Offensive language also NEGATIVE (68.6%)</a:t>
            </a:r>
          </a:p>
          <a:p>
            <a:r>
              <a:rPr lang="en-US" dirty="0">
                <a:solidFill>
                  <a:schemeClr val="tx1"/>
                </a:solidFill>
              </a:rPr>
              <a:t>Neither correctly shifted to POSITIVE (43%)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18D793B-D5B8-EC0E-6FB6-A9EC1F61B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129241"/>
              </p:ext>
            </p:extLst>
          </p:nvPr>
        </p:nvGraphicFramePr>
        <p:xfrm>
          <a:off x="838200" y="959711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49830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30342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67671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8893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NEUTRAL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000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hate_speech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70.07%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12.17%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17.76%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074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offensive_language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68.59%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11.44%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19.97%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4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26.91%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30.13%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42.97%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20164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1BC8762-CDCF-910A-B0FC-16F28749A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63543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with ground truth: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582F07-300A-145A-114A-82797E3EF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705" y="2422751"/>
            <a:ext cx="5143245" cy="436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54AFA-801D-4356-CDD0-476189FA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639" y="-1835568"/>
            <a:ext cx="10515600" cy="2852737"/>
          </a:xfrm>
        </p:spPr>
        <p:txBody>
          <a:bodyPr/>
          <a:lstStyle/>
          <a:p>
            <a:r>
              <a:rPr lang="en-US" dirty="0"/>
              <a:t>TF-IDF Vectorization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925184-5B4B-271D-C05A-763B3F4B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42444"/>
            <a:ext cx="10515600" cy="150018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Top-10 TF-IDF terms:</a:t>
            </a:r>
            <a:r>
              <a:rPr lang="en-US" dirty="0">
                <a:solidFill>
                  <a:schemeClr val="tx1"/>
                </a:solidFill>
              </a:rPr>
              <a:t> bitch, bitches, hoes, pussy, hoe, fuck, trash, ass, don, shit</a:t>
            </a:r>
          </a:p>
        </p:txBody>
      </p:sp>
    </p:spTree>
    <p:extLst>
      <p:ext uri="{BB962C8B-B14F-4D97-AF65-F5344CB8AC3E}">
        <p14:creationId xmlns:p14="http://schemas.microsoft.com/office/powerpoint/2010/main" val="243627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C10FB-9DAC-8198-7A36-4291C204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103" y="-1899736"/>
            <a:ext cx="10515600" cy="2852737"/>
          </a:xfrm>
        </p:spPr>
        <p:txBody>
          <a:bodyPr/>
          <a:lstStyle/>
          <a:p>
            <a:r>
              <a:rPr lang="en-US" dirty="0"/>
              <a:t>LDA Topic Modeling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080D4E-5CED-ABB4-2142-2D2C73AD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768" y="953001"/>
            <a:ext cx="10673682" cy="51366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 is LDA: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Latent Dirichlet Allocation</a:t>
            </a:r>
          </a:p>
          <a:p>
            <a:r>
              <a:rPr lang="en-US" dirty="0">
                <a:solidFill>
                  <a:schemeClr val="tx1"/>
                </a:solidFill>
              </a:rPr>
              <a:t>Unsupervised method</a:t>
            </a:r>
          </a:p>
          <a:p>
            <a:r>
              <a:rPr lang="en-US" dirty="0">
                <a:solidFill>
                  <a:schemeClr val="tx1"/>
                </a:solidFill>
              </a:rPr>
              <a:t>Finds hidden topics in document collection</a:t>
            </a:r>
          </a:p>
          <a:p>
            <a:r>
              <a:rPr lang="en-US" dirty="0">
                <a:solidFill>
                  <a:schemeClr val="tx1"/>
                </a:solidFill>
              </a:rPr>
              <a:t>Each document = mixture of topics</a:t>
            </a:r>
          </a:p>
          <a:p>
            <a:r>
              <a:rPr lang="en-US" dirty="0">
                <a:solidFill>
                  <a:schemeClr val="tx1"/>
                </a:solidFill>
              </a:rPr>
              <a:t>Each topic = distribution over words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40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CF8E4-6757-A459-443B-EDE8176C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71" y="-1915778"/>
            <a:ext cx="10515600" cy="2852737"/>
          </a:xfrm>
        </p:spPr>
        <p:txBody>
          <a:bodyPr/>
          <a:lstStyle/>
          <a:p>
            <a:r>
              <a:rPr lang="en-US" dirty="0"/>
              <a:t>Discovered Topics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834DE5-E27C-6A3C-44E6-E228521F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936959"/>
            <a:ext cx="3549984" cy="58007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5B79B5-1890-B00E-ED71-B2F986F6A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313" y="2165685"/>
            <a:ext cx="7889688" cy="4692316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1CC8659-1787-198B-9011-E1CBBF8ED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9497"/>
              </p:ext>
            </p:extLst>
          </p:nvPr>
        </p:nvGraphicFramePr>
        <p:xfrm>
          <a:off x="444500" y="1046496"/>
          <a:ext cx="2819400" cy="54864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332229438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544000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Keywords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05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hoes, hoe, bitches, niggas, don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942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bitch, ass, said, day, yankees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95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Topic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bitch, nigga, ain, bitches, love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94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bitch, fuck, bitches, don, pussy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17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pussy, trash, good, faggot, retard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855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270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EBD65-E9D9-0403-69B4-4F0D049C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766" y="-1835567"/>
            <a:ext cx="10515600" cy="2852737"/>
          </a:xfrm>
        </p:spPr>
        <p:txBody>
          <a:bodyPr/>
          <a:lstStyle/>
          <a:p>
            <a:r>
              <a:rPr lang="en-US" dirty="0"/>
              <a:t>Word Clouds by Class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910B4-E035-71D3-5F1D-0AF2561AC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389" y="1235243"/>
            <a:ext cx="11518232" cy="2193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Visual representation of most frequent terms per class:</a:t>
            </a:r>
          </a:p>
          <a:p>
            <a:r>
              <a:rPr lang="en-US" dirty="0" err="1">
                <a:solidFill>
                  <a:schemeClr val="tx1"/>
                </a:solidFill>
              </a:rPr>
              <a:t>hate_speech</a:t>
            </a:r>
            <a:r>
              <a:rPr lang="en-US" dirty="0">
                <a:solidFill>
                  <a:schemeClr val="tx1"/>
                </a:solidFill>
              </a:rPr>
              <a:t> - red colormap</a:t>
            </a:r>
          </a:p>
          <a:p>
            <a:r>
              <a:rPr lang="en-US" dirty="0" err="1">
                <a:solidFill>
                  <a:schemeClr val="tx1"/>
                </a:solidFill>
              </a:rPr>
              <a:t>offensive_language</a:t>
            </a:r>
            <a:r>
              <a:rPr lang="en-US" dirty="0">
                <a:solidFill>
                  <a:schemeClr val="tx1"/>
                </a:solidFill>
              </a:rPr>
              <a:t> - orange colormap</a:t>
            </a:r>
          </a:p>
          <a:p>
            <a:r>
              <a:rPr lang="en-US" dirty="0">
                <a:solidFill>
                  <a:schemeClr val="tx1"/>
                </a:solidFill>
              </a:rPr>
              <a:t>neither - green colormap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текст, Шрифт, рукописный текст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1ED02A-DAA7-4FE5-5589-D22FB6108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1900"/>
            <a:ext cx="12192000" cy="29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35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FA23E-5951-1ED9-82CD-6DA618107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5029" y="-1947862"/>
            <a:ext cx="10515600" cy="2852737"/>
          </a:xfrm>
        </p:spPr>
        <p:txBody>
          <a:bodyPr/>
          <a:lstStyle/>
          <a:p>
            <a:r>
              <a:rPr lang="en-US" dirty="0"/>
              <a:t>Results Summary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F0E3B8-7939-BDE2-3B9C-2476D0D77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97" y="7717673"/>
            <a:ext cx="10515600" cy="150018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EF44D33-1AE4-7281-6BAD-0DBCC6624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98723"/>
              </p:ext>
            </p:extLst>
          </p:nvPr>
        </p:nvGraphicFramePr>
        <p:xfrm>
          <a:off x="831849" y="1165050"/>
          <a:ext cx="10528302" cy="3888213"/>
        </p:xfrm>
        <a:graphic>
          <a:graphicData uri="http://schemas.openxmlformats.org/drawingml/2006/table">
            <a:tbl>
              <a:tblPr/>
              <a:tblGrid>
                <a:gridCol w="5264151">
                  <a:extLst>
                    <a:ext uri="{9D8B030D-6E8A-4147-A177-3AD203B41FA5}">
                      <a16:colId xmlns:a16="http://schemas.microsoft.com/office/drawing/2014/main" val="3475690177"/>
                    </a:ext>
                  </a:extLst>
                </a:gridCol>
                <a:gridCol w="5264151">
                  <a:extLst>
                    <a:ext uri="{9D8B030D-6E8A-4147-A177-3AD203B41FA5}">
                      <a16:colId xmlns:a16="http://schemas.microsoft.com/office/drawing/2014/main" val="1665556997"/>
                    </a:ext>
                  </a:extLst>
                </a:gridCol>
              </a:tblGrid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234581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24,778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68335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TF-IDF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45774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LDA 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462940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 sentiment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61.7%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39794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Hate → 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1245"/>
                  </a:ext>
                </a:extLst>
              </a:tr>
              <a:tr h="555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VADER mean compound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-0.263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6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2883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687</Words>
  <Application>Microsoft Office PowerPoint</Application>
  <PresentationFormat>Широкоэкранный</PresentationFormat>
  <Paragraphs>145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Тема Office</vt:lpstr>
      <vt:lpstr>Transformers Architecture</vt:lpstr>
      <vt:lpstr>Tokenization Types</vt:lpstr>
      <vt:lpstr>Text Preprocessing</vt:lpstr>
      <vt:lpstr>TF-IDF Formula</vt:lpstr>
      <vt:lpstr>Named entity recognition(NER)</vt:lpstr>
      <vt:lpstr>PRACTICAL PROJECT</vt:lpstr>
      <vt:lpstr>Preprocessing Pipeline</vt:lpstr>
      <vt:lpstr>Sentiment Analysis Methods</vt:lpstr>
      <vt:lpstr>Sentiment validation </vt:lpstr>
      <vt:lpstr>TF-IDF Vectorization</vt:lpstr>
      <vt:lpstr>LDA Topic Modeling</vt:lpstr>
      <vt:lpstr>Discovered Topics</vt:lpstr>
      <vt:lpstr>Word Clouds by Class</vt:lpstr>
      <vt:lpstr>Results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Oleksii Burianov</dc:creator>
  <cp:lastModifiedBy>Oleksii Burianov</cp:lastModifiedBy>
  <cp:revision>2</cp:revision>
  <dcterms:created xsi:type="dcterms:W3CDTF">2025-12-05T12:29:50Z</dcterms:created>
  <dcterms:modified xsi:type="dcterms:W3CDTF">2025-12-05T12:51:06Z</dcterms:modified>
</cp:coreProperties>
</file>
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3E50"/>
            </a:gs>
            <a:gs pos="100000">
              <a:srgbClr val="2980B9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371600"/>
            <a:ext cx="2743200" cy="1371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Machine Learning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CF0F1"/>
                </a:solidFill>
              </a:defRPr>
            </a:pPr>
            <a:r>
              <a:t>mlcourse.ai Topics 1-5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Completed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t>Successfully completed 5 topics with all assignments: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t>• Topic 1: Exploratory Data Analysis with Pandas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t>• Topic 2: Visual Data Analysis with Python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t>• Topic 3: Classification, Decision Trees &amp; KNN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t>• Topic 4: Linear Classification and Regression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t>• Topic 5: Bagging and Random Forest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t>Achieved comprehensive understanding of each topic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t>Completed all practical assignments and quizzes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98DB"/>
            </a:gs>
            <a:gs pos="100000">
              <a:srgbClr val="2980B9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Key Skills from Each Topic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Topic 1: Exploratory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840480" cy="5029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Data Manipulation with Pandas: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Loading and inspecting datasets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Data cleaning techniques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Handling missing values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Data type conversions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Statistical Analysis: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Descriptive statistics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Distribution analysis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Correlation computation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840480" cy="5029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47472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rPr dirty="0"/>
              <a:t>Feature Engineering: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rPr dirty="0"/>
              <a:t>• Creating new features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rPr dirty="0"/>
              <a:t>• Categorical encoding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rPr dirty="0"/>
              <a:t>• Data transformation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Topic 2: Visual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840480" cy="5029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Visualization Libraries: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Matplotlib fundamentals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Seaborn for statistical plots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Customizing plot aesthetics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Plot Types Mastered: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Histograms and distributions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Scatter plots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Box plots and violin plots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Heatmaps for correlations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840480" cy="5029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Data Insights: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Pattern recognition in data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Outlier detection visually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Feature relationships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Time series visualization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Advanced Techniques: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Multi-dimensional plotting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Pair plots for EDA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Interactive visualizations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Topic 3: Classification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840480" cy="5029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Decision Trees: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Tree-based classification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Gini impurity and entropy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Pruning strategies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Feature importance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K-Nearest Neighbors: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Distance metrics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Choosing optimal K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Curse of dimensionality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840480" cy="5029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Model Evaluation: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Train-test splitting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Cross-validation techniques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Confusion matrix analysis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Accuracy, precision, recall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ROC curves and AUC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Key Concepts: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Overfitting vs underfitting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Bias-variance tradeoff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Topic 4: Linear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840480" cy="5029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Regression Techniques: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Linear Regression (OLS)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Ridge Regression (L2)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LASSO Regression (L1)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Feature scaling importance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Logistic Regression: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Binary classification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Probability estimation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Coefficient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840480" cy="5029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Regularization: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Preventing overfitting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L1 vs L2 regularization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Feature selection with LASSO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Hyperparameter Tuning: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GridSearchCV implementation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Cross-validation strategies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Model selection criteria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Performance metrics (MSE, R²)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Topic 5: Ensemble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840480" cy="5029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Random Forest: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Ensemble of decision trees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Bootstrap aggregating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Feature randomization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Out-of-bag evaluation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Bagging Technique: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Bootstrap sampling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Variance reduction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Model aggregation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840480" cy="5029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Advanced Concepts: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Feature importance ranking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Hyperparameter optimization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RandomizedSearchCV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Model interpretability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Practical Skills: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sklearn version compatibility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Parallel processing (n_jobs)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ROC AUC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98DB"/>
            </a:gs>
            <a:gs pos="100000">
              <a:srgbClr val="2980B9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Project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Topic 1 Results: Income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Dataset: UCI Adult Income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Key Findings: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Education level strongly correlates with income (&gt;50K)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Age shows non-linear pattern, peak earning at 40-50 years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Occupation type is a significant predictor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Gender disparity observed in income distribution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Skills Demonstrated: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Comprehensive data cleaning and preprocessing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Statistical analysis of demographic patterns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Feature engineering for better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Topic 2 Results: Visual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31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Visualization Projects Completed: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Distribution Analysis:</a:t>
            </a:r>
          </a:p>
          <a:p>
            <a:pPr lvl="1">
              <a:spcBef>
                <a:spcPts val="1000"/>
              </a:spcBef>
              <a:defRPr sz="1800">
                <a:solidFill>
                  <a:srgbClr val="34495E"/>
                </a:solidFill>
              </a:defRPr>
            </a:pPr>
            <a:r>
              <a:rPr dirty="0"/>
              <a:t>  - Created histograms showing income skewness</a:t>
            </a:r>
          </a:p>
          <a:p>
            <a:pPr lvl="1">
              <a:spcBef>
                <a:spcPts val="1000"/>
              </a:spcBef>
              <a:defRPr sz="1800">
                <a:solidFill>
                  <a:srgbClr val="34495E"/>
                </a:solidFill>
              </a:defRPr>
            </a:pPr>
            <a:r>
              <a:rPr dirty="0"/>
              <a:t>  - Identified outliers in age and work hours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Correlation Analysis:</a:t>
            </a:r>
          </a:p>
          <a:p>
            <a:pPr lvl="1">
              <a:spcBef>
                <a:spcPts val="1000"/>
              </a:spcBef>
              <a:defRPr sz="1800">
                <a:solidFill>
                  <a:srgbClr val="34495E"/>
                </a:solidFill>
              </a:defRPr>
            </a:pPr>
            <a:r>
              <a:rPr dirty="0"/>
              <a:t>  - Heatmap revealed feature relationships</a:t>
            </a:r>
          </a:p>
          <a:p>
            <a:pPr lvl="1">
              <a:spcBef>
                <a:spcPts val="1000"/>
              </a:spcBef>
              <a:defRPr sz="1800">
                <a:solidFill>
                  <a:srgbClr val="34495E"/>
                </a:solidFill>
              </a:defRPr>
            </a:pPr>
            <a:r>
              <a:rPr dirty="0"/>
              <a:t>  - Education-income correlation clearly visualized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Comparative Plots:</a:t>
            </a:r>
          </a:p>
          <a:p>
            <a:pPr lvl="1">
              <a:spcBef>
                <a:spcPts val="1000"/>
              </a:spcBef>
              <a:defRPr sz="1800">
                <a:solidFill>
                  <a:srgbClr val="34495E"/>
                </a:solidFill>
              </a:defRPr>
            </a:pPr>
            <a:r>
              <a:rPr dirty="0"/>
              <a:t>  - Box plots for categorical comparisons</a:t>
            </a:r>
          </a:p>
          <a:p>
            <a:pPr lvl="1">
              <a:spcBef>
                <a:spcPts val="1000"/>
              </a:spcBef>
              <a:defRPr sz="1800">
                <a:solidFill>
                  <a:srgbClr val="34495E"/>
                </a:solidFill>
              </a:defRPr>
            </a:pPr>
            <a:r>
              <a:rPr dirty="0"/>
              <a:t>  - Pair plots for multi-feature exploration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Result: Data patterns became immediately apparent through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Topic 3 Results: Classification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Models Implemented and Evaluated: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Decision Tree Classifier: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Achieved ~85% accuracy on test set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Identified optimal </a:t>
            </a:r>
            <a:r>
              <a:rPr dirty="0" err="1"/>
              <a:t>max_depth</a:t>
            </a:r>
            <a:r>
              <a:rPr dirty="0"/>
              <a:t> through cross-validation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Feature importance: education, age, hours-per-week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K-Nearest Neighbors: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Best performance with K=7-11 neighbors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Distance weighting improved predictions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Computational efficiency considerations noted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Key Learning: Model selection depends on data characteristics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Topic 4 Results: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Model Performance (Mean Squared Error):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Linear Regression: 0.584 (baseline)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LASSO (α=0.01): 0.461 (21% improvement)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Random Forest: 0.371 (best performance, 36% better than baseline)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Feature Importance Analysis: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Alcohol content: Most significant predictor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Volatile acidity: Secondary importance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Sulphates: Tertiary factor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Conclusion: Ensemble methods outperform linear models significantly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Topic 5 Results: Credit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Model Performance (ROC AUC Score):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Logistic Regression: 79.5% (interpretable baseline)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Random Forest: 83.5% (best accuracy, 4% improvement)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Bagging Classifier: 80.75% (balanced approach)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Assignment Achievement: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• Implemented bootstrap confidence intervals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Key Insight: Ensemble methods reduce variance and improve stability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How to Run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19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Environment Setup: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1. Create virtual environment: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   python -m </a:t>
            </a:r>
            <a:r>
              <a:rPr dirty="0" err="1"/>
              <a:t>venv</a:t>
            </a:r>
            <a:r>
              <a:rPr dirty="0"/>
              <a:t> env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2. Activate environment: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   env\Scripts\activate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3. Install dependencies: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   pip install pandas </a:t>
            </a:r>
            <a:r>
              <a:rPr dirty="0" err="1"/>
              <a:t>numpy</a:t>
            </a:r>
            <a:r>
              <a:rPr dirty="0"/>
              <a:t> scikit-learn matplotlib seaborn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4. Launch </a:t>
            </a:r>
            <a:r>
              <a:rPr dirty="0" err="1"/>
              <a:t>Jupyter</a:t>
            </a:r>
            <a:r>
              <a:rPr dirty="0"/>
              <a:t>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   </a:t>
            </a:r>
            <a:r>
              <a:rPr dirty="0" err="1"/>
              <a:t>jupyter</a:t>
            </a:r>
            <a:r>
              <a:rPr dirty="0"/>
              <a:t> notebook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5. Execute notebooks (topic1.ipynb through topic5.ipynb)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   Datasets load automatically from URLs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19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Course Achievements: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Successfully completed 5 comprehensive ML topics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Implemented 10+ machine learning algorithms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Analyzed 3 real-world datasets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Achieved 100% accuracy on </a:t>
            </a:r>
            <a:r>
              <a:rPr lang="en-US" dirty="0"/>
              <a:t>all </a:t>
            </a:r>
            <a:r>
              <a:rPr dirty="0"/>
              <a:t>quiz</a:t>
            </a:r>
            <a:endParaRPr lang="ru-RU" dirty="0"/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Skills Acquired: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Data analysis and visualization proficiency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Machine learning algorithm implementation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Model evaluation and hyperparameter tuning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• Python and scikit-learn expertise</a:t>
            </a:r>
          </a:p>
          <a:p>
            <a:pPr>
              <a:spcBef>
                <a:spcPts val="1000"/>
              </a:spcBef>
              <a:defRPr sz="2000">
                <a:solidFill>
                  <a:srgbClr val="34495E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Completed 5 out of 10 topics due to lack of time caused by academic commitments and other coursework.</a:t>
            </a:r>
          </a:p>
          <a:p>
            <a:pPr>
              <a:spcBef>
                <a:spcPts val="1200"/>
              </a:spcBef>
              <a:defRPr sz="2000">
                <a:solidFill>
                  <a:srgbClr val="34495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Despite time constraints, achieved comprehensive understanding of foundational ML concepts and successfully completed all assignments for covered topics.</a:t>
            </a:r>
          </a:p>
          <a:p>
            <a:pPr>
              <a:spcBef>
                <a:spcPts val="1200"/>
              </a:spcBef>
              <a:defRPr sz="2000">
                <a:solidFill>
                  <a:srgbClr val="34495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34495E"/>
                </a:solidFill>
              </a:defRPr>
            </a:pPr>
            <a:r>
              <a:rPr dirty="0"/>
              <a:t>Future goal: Complete remaining topics 6-10</a:t>
            </a:r>
          </a:p>
        </p:txBody>
      </p:sp>
      <p:pic>
        <p:nvPicPr>
          <p:cNvPr id="1028" name="Picture 4" descr="Time Management Skills Guide Kids Toward Academic Success - Hawaii Parent">
            <a:extLst>
              <a:ext uri="{FF2B5EF4-FFF2-40B4-BE49-F238E27FC236}">
                <a16:creationId xmlns:a16="http://schemas.microsoft.com/office/drawing/2014/main" id="{116D7E92-DD34-5155-70AA-1B9CCCDB8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647" y="2337652"/>
            <a:ext cx="2914010" cy="218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966</Words>
  <Application>Microsoft Office PowerPoint</Application>
  <PresentationFormat>Экран (4:3)</PresentationFormat>
  <Paragraphs>204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Oleksii Burianov</cp:lastModifiedBy>
  <cp:revision>2</cp:revision>
  <dcterms:created xsi:type="dcterms:W3CDTF">2013-01-27T09:14:16Z</dcterms:created>
  <dcterms:modified xsi:type="dcterms:W3CDTF">2025-11-24T09:53:30Z</dcterms:modified>
  <cp:category/>
</cp:coreProperties>
</file>
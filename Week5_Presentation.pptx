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66" r:id="rId5"/>
    <p:sldId id="260" r:id="rId6"/>
    <p:sldId id="267" r:id="rId7"/>
    <p:sldId id="268" r:id="rId8"/>
    <p:sldId id="269" r:id="rId9"/>
    <p:sldId id="270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03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BC28D-82FF-8216-778E-FFE7C70D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A2CCA-7086-1EE1-736E-4F3C1AB44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FC5C3-86B0-2EC2-12AC-C1CE07D2D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20F81-B39B-C809-B324-020C45310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87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9A8E-54E6-2734-F4C7-9BF6F131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2CB62-D0C3-CD56-9570-56EC0A868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F887A-408C-870B-01FB-50558E42C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8105E-4EEF-9F86-86CB-5270E275F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5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22EE2-F94D-6D7C-9D4A-8F1B6A11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EEDA0-6EC9-9E34-DC0A-859B7198B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72E54-AC75-1ADA-6625-CE15166CC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5EA3A-D7EE-DE21-7985-1CC9FE5A1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10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D395-7959-A6D5-6851-F0BC0D22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300CB-7010-DDC9-54C6-44F9606B0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2D91E-9BA2-8A03-78AF-50B050A88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B8283-6273-407C-45AF-6E24DFAA2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25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608" y="0"/>
            <a:ext cx="4284536" cy="495300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627218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877935"/>
            <a:ext cx="8382000" cy="361636"/>
          </a:xfrm>
          <a:prstGeom prst="roundRect">
            <a:avLst>
              <a:gd name="adj" fmla="val 1012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243138"/>
            <a:ext cx="82387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600"/>
              </a:spcAft>
              <a:buNone/>
            </a:pP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52628" y="961550"/>
            <a:ext cx="823874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src/ui/app.py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90144" y="1342057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4624388"/>
            <a:ext cx="20054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endParaRPr lang="en-US" sz="975" dirty="0"/>
          </a:p>
        </p:txBody>
      </p:sp>
      <p:pic>
        <p:nvPicPr>
          <p:cNvPr id="15" name="Рисунок 14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F9F568A-2845-716E-F1B5-0A4BB0332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6" y="1635043"/>
            <a:ext cx="2005492" cy="3314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464" y="0"/>
            <a:ext cx="4284536" cy="495300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Multi-LLM Client</a:t>
            </a:r>
            <a:endParaRPr lang="en-US" sz="2400" dirty="0"/>
          </a:p>
        </p:txBody>
      </p:sp>
      <p:pic>
        <p:nvPicPr>
          <p:cNvPr id="11" name="Рисунок 10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E728C8-615C-555D-C90E-18A6D2F37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4760"/>
            <a:ext cx="2238687" cy="24387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A365C4D-4F6D-D67E-E4E1-83615C297854}"/>
              </a:ext>
            </a:extLst>
          </p:cNvPr>
          <p:cNvSpPr txBox="1"/>
          <p:nvPr/>
        </p:nvSpPr>
        <p:spPr>
          <a:xfrm>
            <a:off x="-70173" y="575207"/>
            <a:ext cx="4617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Abstract base class </a:t>
            </a:r>
            <a:r>
              <a:rPr lang="ru-RU" sz="1400" dirty="0"/>
              <a:t>«</a:t>
            </a:r>
            <a:r>
              <a:rPr lang="en-US" sz="1400" b="1" dirty="0" err="1"/>
              <a:t>BaseLLMClient</a:t>
            </a:r>
            <a:r>
              <a:rPr lang="ru-RU" sz="1400" dirty="0">
                <a:latin typeface="Courier New" panose="02070309020205020404" pitchFamily="49" charset="0"/>
              </a:rPr>
              <a:t>»</a:t>
            </a:r>
            <a:r>
              <a:rPr lang="en-US" sz="1400" dirty="0"/>
              <a:t> for consistent model interaction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827452-794D-52EA-FF78-9AA7246E0A54}"/>
              </a:ext>
            </a:extLst>
          </p:cNvPr>
          <p:cNvSpPr txBox="1"/>
          <p:nvPr/>
        </p:nvSpPr>
        <p:spPr>
          <a:xfrm>
            <a:off x="-21265" y="1098427"/>
            <a:ext cx="46177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Support for </a:t>
            </a:r>
            <a:r>
              <a:rPr lang="ru-RU" dirty="0"/>
              <a:t>3 </a:t>
            </a:r>
            <a:r>
              <a:rPr lang="en-US" dirty="0"/>
              <a:t>local models via </a:t>
            </a:r>
            <a:r>
              <a:rPr lang="en-US" dirty="0" err="1"/>
              <a:t>Ollama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gemma3:1b - Fast, lightweight (1B parameters)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deepseek-r1:1.5b - Balanced performance (1.5B parameters)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ministral-3:3b - High quality output (3B parameters)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CD41B5-D223-54EB-C7CB-43A83237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134" y="0"/>
            <a:ext cx="1623866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8A5B28-B135-3DCC-9869-E1CB81E86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4274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Streaming Support: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Word-by-word response display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Improved user experience for long responses 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6BD6C9-167D-98A9-41DD-BE363B8AF885}"/>
              </a:ext>
            </a:extLst>
          </p:cNvPr>
          <p:cNvSpPr txBox="1"/>
          <p:nvPr/>
        </p:nvSpPr>
        <p:spPr>
          <a:xfrm>
            <a:off x="0" y="1823833"/>
            <a:ext cx="45817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Configuration Panel (Advanced Options):</a:t>
            </a:r>
          </a:p>
          <a:p>
            <a:pPr>
              <a:buNone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Temperature (0.0-2.0): Creativity vs. determinism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Max Tokens (100-4000): Response length 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Streaming Toggle: Enable/disable real-time generation</a:t>
            </a:r>
          </a:p>
        </p:txBody>
      </p:sp>
    </p:spTree>
    <p:extLst>
      <p:ext uri="{BB962C8B-B14F-4D97-AF65-F5344CB8AC3E}">
        <p14:creationId xmlns:p14="http://schemas.microsoft.com/office/powerpoint/2010/main" val="76562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AB97-CCB8-3FDA-8EC0-C935176E9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792456-F317-264F-03EC-F0797A159BCE}"/>
              </a:ext>
            </a:extLst>
          </p:cNvPr>
          <p:cNvSpPr txBox="1"/>
          <p:nvPr/>
        </p:nvSpPr>
        <p:spPr>
          <a:xfrm>
            <a:off x="0" y="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Resource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Token Usage Monitoring: Input/output token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Cost Calculation: Per-request cost tracking (currently $0 for local models)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Latency Measurement: Response time in milliseconds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Metadata Persistence: Timestamp, model name, performance metrics</a:t>
            </a:r>
          </a:p>
        </p:txBody>
      </p:sp>
      <p:pic>
        <p:nvPicPr>
          <p:cNvPr id="8" name="Рисунок 7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88FFD6-47BC-81DE-D081-A43F02065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01" y="1980634"/>
            <a:ext cx="4263599" cy="316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51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91" y="-14288"/>
            <a:ext cx="4284536" cy="495300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Prompt Strategies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1B7033-976F-629E-A75C-B55D3C2DAD38}"/>
              </a:ext>
            </a:extLst>
          </p:cNvPr>
          <p:cNvSpPr txBox="1"/>
          <p:nvPr/>
        </p:nvSpPr>
        <p:spPr>
          <a:xfrm>
            <a:off x="0" y="625231"/>
            <a:ext cx="4630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System Role Prompting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1C69B-1462-60CF-E0E8-1909D5B77AA7}"/>
              </a:ext>
            </a:extLst>
          </p:cNvPr>
          <p:cNvSpPr txBox="1"/>
          <p:nvPr/>
        </p:nvSpPr>
        <p:spPr>
          <a:xfrm>
            <a:off x="-58782" y="1138782"/>
            <a:ext cx="4630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system: "You are an expert research assistant specializing in academic literature </a:t>
            </a:r>
            <a:r>
              <a:rPr lang="en-US" dirty="0" err="1"/>
              <a:t>analysis,summarization</a:t>
            </a:r>
            <a:r>
              <a:rPr lang="en-US" dirty="0"/>
              <a:t>, and report generation."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6FA456-4E97-A2F1-1064-A9B080E38990}"/>
              </a:ext>
            </a:extLst>
          </p:cNvPr>
          <p:cNvSpPr txBox="1"/>
          <p:nvPr/>
        </p:nvSpPr>
        <p:spPr>
          <a:xfrm>
            <a:off x="0" y="2432932"/>
            <a:ext cx="46307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Characteristics:</a:t>
            </a:r>
            <a:endParaRPr lang="ru-RU" b="1" dirty="0"/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role definition and direct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Minimal overhead, fastest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for: Straightforward queries, quick responses</a:t>
            </a:r>
            <a:endParaRPr lang="ru-RU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Use Case: </a:t>
            </a:r>
            <a:r>
              <a:rPr lang="en-US" i="1" dirty="0"/>
              <a:t>"Summarize the key findings of this paper"</a:t>
            </a:r>
            <a:endParaRPr lang="en-US" dirty="0"/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91D18CE2-C22C-0D8D-FA89-DAD668F369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987731" cy="19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Рисунок 2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728733-C8D4-A031-ADCA-73DE4D2A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827" y="951588"/>
            <a:ext cx="2572109" cy="2962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D1E62-E6D6-F9D7-2919-76E2802D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0F1F05C-FDB4-A7BA-B57F-D17F808CA803}"/>
              </a:ext>
            </a:extLst>
          </p:cNvPr>
          <p:cNvSpPr txBox="1"/>
          <p:nvPr/>
        </p:nvSpPr>
        <p:spPr>
          <a:xfrm>
            <a:off x="0" y="625231"/>
            <a:ext cx="4630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Few-Shot Learning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EF9C91-8B24-56A9-AA61-98901A3E90FB}"/>
              </a:ext>
            </a:extLst>
          </p:cNvPr>
          <p:cNvSpPr txBox="1"/>
          <p:nvPr/>
        </p:nvSpPr>
        <p:spPr>
          <a:xfrm>
            <a:off x="-58782" y="1029534"/>
            <a:ext cx="46307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User: summarize transformer architectures</a:t>
            </a:r>
            <a:br>
              <a:rPr lang="en-US" dirty="0"/>
            </a:br>
            <a:r>
              <a:rPr lang="en-US" dirty="0"/>
              <a:t>Ai: key findings:1. ; 2. …</a:t>
            </a:r>
            <a:br>
              <a:rPr lang="en-US" dirty="0"/>
            </a:br>
            <a:r>
              <a:rPr lang="en-US" dirty="0"/>
              <a:t>User: Research gaps in climate modeling </a:t>
            </a:r>
            <a:br>
              <a:rPr lang="en-US" dirty="0"/>
            </a:br>
            <a:r>
              <a:rPr lang="en-US" dirty="0"/>
              <a:t>Ai: Main gaps: 1. ; 2. 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5FF59A-911D-E6AC-B32E-7058CDD06759}"/>
              </a:ext>
            </a:extLst>
          </p:cNvPr>
          <p:cNvSpPr txBox="1"/>
          <p:nvPr/>
        </p:nvSpPr>
        <p:spPr>
          <a:xfrm>
            <a:off x="0" y="2432932"/>
            <a:ext cx="46307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Characteristics:</a:t>
            </a:r>
            <a:endParaRPr lang="ru-RU" b="1" dirty="0"/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2-3 examples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learns expected output format and style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for: Consistent formatting, domain-specific responses</a:t>
            </a:r>
          </a:p>
          <a:p>
            <a:pPr>
              <a:buNone/>
            </a:pPr>
            <a:r>
              <a:rPr lang="en-US" dirty="0"/>
              <a:t>Use Case: </a:t>
            </a:r>
            <a:r>
              <a:rPr lang="en-US" i="1" dirty="0"/>
              <a:t>Complex analysis requiring specific structure</a:t>
            </a:r>
            <a:endParaRPr lang="en-US" dirty="0"/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52EE2066-DB72-AA7C-A302-FD1D182C65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987731" cy="19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Рисунок 2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0A97EC-5E42-B702-A556-42FD89A1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827" y="951588"/>
            <a:ext cx="2572109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2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E260B-C700-75CB-FB45-92D23F09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A00B5A7-0E57-C4CA-F30E-D9E444F9E8A4}"/>
              </a:ext>
            </a:extLst>
          </p:cNvPr>
          <p:cNvSpPr txBox="1"/>
          <p:nvPr/>
        </p:nvSpPr>
        <p:spPr>
          <a:xfrm>
            <a:off x="0" y="625231"/>
            <a:ext cx="4630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Chain-of-Thought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EB53AE-5F10-7ECD-2C08-04433323DD1C}"/>
              </a:ext>
            </a:extLst>
          </p:cNvPr>
          <p:cNvSpPr txBox="1"/>
          <p:nvPr/>
        </p:nvSpPr>
        <p:spPr>
          <a:xfrm>
            <a:off x="-58782" y="1029534"/>
            <a:ext cx="46307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Step 1: Identify core methodology components Step 2: Evaluate strengths and limitations </a:t>
            </a:r>
          </a:p>
          <a:p>
            <a:r>
              <a:rPr lang="en-US" dirty="0"/>
              <a:t>Step 3: Compare with alternative approaches Step 4: Draw conclusions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83A229-A2F3-EBB1-BDB7-5A3C40C696F7}"/>
              </a:ext>
            </a:extLst>
          </p:cNvPr>
          <p:cNvSpPr txBox="1"/>
          <p:nvPr/>
        </p:nvSpPr>
        <p:spPr>
          <a:xfrm>
            <a:off x="0" y="2432932"/>
            <a:ext cx="46307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Characteristics:</a:t>
            </a:r>
            <a:endParaRPr lang="ru-RU" b="1" dirty="0"/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Prompts model to show reasoning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Breaks complex problems into small parts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for: multi-step reasoning, analytical tasks</a:t>
            </a:r>
          </a:p>
          <a:p>
            <a:pPr>
              <a:buNone/>
            </a:pPr>
            <a:r>
              <a:rPr lang="en-US" dirty="0"/>
              <a:t>Use Case: Analyze the implications of this research methodology</a:t>
            </a:r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638DC954-0C1D-2FD9-74EC-AB4AB22A4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987731" cy="19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Рисунок 2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C08847-6F25-4274-B3EC-FB5225822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827" y="951588"/>
            <a:ext cx="2572109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BABDA-5606-AB3A-981D-FD0590D5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8886099-0CD4-BD66-AFE6-3F4E5616C90A}"/>
              </a:ext>
            </a:extLst>
          </p:cNvPr>
          <p:cNvSpPr txBox="1"/>
          <p:nvPr/>
        </p:nvSpPr>
        <p:spPr>
          <a:xfrm>
            <a:off x="0" y="625231"/>
            <a:ext cx="4630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Structured Output (JSON Mode)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0DC13-FA71-0822-BB73-B0C31FCAF5AD}"/>
              </a:ext>
            </a:extLst>
          </p:cNvPr>
          <p:cNvSpPr txBox="1"/>
          <p:nvPr/>
        </p:nvSpPr>
        <p:spPr>
          <a:xfrm>
            <a:off x="-58782" y="946527"/>
            <a:ext cx="46307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1)Make brief </a:t>
            </a:r>
            <a:r>
              <a:rPr lang="en-US" dirty="0" err="1"/>
              <a:t>overwiew</a:t>
            </a:r>
            <a:br>
              <a:rPr lang="en-US" dirty="0"/>
            </a:br>
            <a:r>
              <a:rPr lang="en-US" dirty="0"/>
              <a:t>2)Place key points</a:t>
            </a:r>
            <a:br>
              <a:rPr lang="en-US" dirty="0"/>
            </a:br>
            <a:r>
              <a:rPr lang="en-US" dirty="0"/>
              <a:t>3)Make detailed explanation</a:t>
            </a:r>
            <a:br>
              <a:rPr lang="en-US" dirty="0"/>
            </a:br>
            <a:r>
              <a:rPr lang="en-US" dirty="0"/>
              <a:t>4)sources</a:t>
            </a:r>
            <a:br>
              <a:rPr lang="en-US" dirty="0"/>
            </a:br>
            <a:r>
              <a:rPr lang="en-US" dirty="0"/>
              <a:t>5)place confidence(high/medium/low)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1AEDF8-13CD-05E4-5283-7E03361330C9}"/>
              </a:ext>
            </a:extLst>
          </p:cNvPr>
          <p:cNvSpPr txBox="1"/>
          <p:nvPr/>
        </p:nvSpPr>
        <p:spPr>
          <a:xfrm>
            <a:off x="0" y="2283898"/>
            <a:ext cx="46307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Characteristics:</a:t>
            </a:r>
            <a:endParaRPr lang="ru-RU" b="1" dirty="0"/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Enforces JSON schema for parseable responses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Guaranteed data structure for downstream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for: Integration with other systems, data extraction</a:t>
            </a:r>
          </a:p>
          <a:p>
            <a:pPr>
              <a:buNone/>
            </a:pPr>
            <a:r>
              <a:rPr lang="en-US" dirty="0"/>
              <a:t>Use Case: Building knowledge graphs, automated report generation</a:t>
            </a:r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255094F3-0B6D-B480-4385-AC0DF2617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987731" cy="19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Рисунок 2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0FA20D-9290-0157-627A-D520738A2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827" y="951588"/>
            <a:ext cx="2572109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08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DB943-AB95-83EA-F4C3-CA896484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2E2CA8FA-7FAF-E552-08AE-75AF144C0F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987731" cy="19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Рисунок 2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8BA19A-EFC8-36AD-5E31-CFF717CA3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705" y="0"/>
            <a:ext cx="2004295" cy="23086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CB9DC6-48E3-F585-2EFE-1C624A1EAFA0}"/>
              </a:ext>
            </a:extLst>
          </p:cNvPr>
          <p:cNvSpPr txBox="1"/>
          <p:nvPr/>
        </p:nvSpPr>
        <p:spPr>
          <a:xfrm>
            <a:off x="0" y="16304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UI Implementation:</a:t>
            </a:r>
          </a:p>
          <a:p>
            <a:pPr>
              <a:buNone/>
            </a:pPr>
            <a:r>
              <a:rPr lang="en-US" dirty="0"/>
              <a:t>Strategy Selector Dropdown with real-time description display: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Runtime strategy changes without page reload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Strategy description shown as info tooltip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Stored in conversation history for analysis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CF2870-7513-2D86-995C-06B88AB1B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91" y="2752396"/>
            <a:ext cx="2246811" cy="2391109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42393F2-174D-88D6-1CEC-E1DA365DC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002" y="2752394"/>
            <a:ext cx="2124498" cy="239111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8A582E-FDD5-9F83-7D9C-B75F56A145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500" y="2752394"/>
            <a:ext cx="2124498" cy="2391108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6B8A50B-A95A-37F2-0869-4A38EC600D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7999" y="2752392"/>
            <a:ext cx="2124498" cy="239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4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29" y="0"/>
            <a:ext cx="4284536" cy="495300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Interface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5648AC-C193-2473-D29A-D53D17FD8F58}"/>
              </a:ext>
            </a:extLst>
          </p:cNvPr>
          <p:cNvSpPr txBox="1"/>
          <p:nvPr/>
        </p:nvSpPr>
        <p:spPr>
          <a:xfrm>
            <a:off x="6031481" y="0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interface I choose </a:t>
            </a:r>
            <a:r>
              <a:rPr lang="en-US" dirty="0" err="1"/>
              <a:t>Streamlit</a:t>
            </a:r>
            <a:endParaRPr lang="en-US" dirty="0"/>
          </a:p>
        </p:txBody>
      </p:sp>
      <p:pic>
        <p:nvPicPr>
          <p:cNvPr id="16" name="Рисунок 1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B36AE1-95A6-C21E-72E2-45D8B4EFF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5301"/>
            <a:ext cx="91440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97" y="-65229"/>
            <a:ext cx="4284536" cy="495300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897" y="483796"/>
            <a:ext cx="4109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Temperature (0.0 - 2.0)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0832" y="670619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and creativity of responses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01223" y="914844"/>
            <a:ext cx="8039100" cy="634008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365"/>
              </a:lnSpc>
              <a:spcAft>
                <a:spcPts val="15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0.0-0.3 - Focused, deterministic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15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0.4-0.8 - Balanced creativity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15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0.9-2.0 - High creativity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809382" y="430071"/>
            <a:ext cx="4109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Max Tokens (100 - 4000)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18290" y="682867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maximum response length</a:t>
            </a:r>
            <a:endParaRPr lang="en-US" sz="975" dirty="0"/>
          </a:p>
        </p:txBody>
      </p:sp>
      <p:pic>
        <p:nvPicPr>
          <p:cNvPr id="17" name="Рисунок 16" descr="Изображение выглядит как текст, снимок экрана, Шрифт, Мобильный теле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FD2DA0-5FB4-C017-B40C-2A6203051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8758"/>
            <a:ext cx="2648320" cy="3524742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E1DDB6-C153-ACFF-7F26-2C8A2C59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418" y="1180547"/>
            <a:ext cx="2381582" cy="39629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149" y="0"/>
            <a:ext cx="4284536" cy="495300"/>
          </a:xfrm>
          <a:prstGeom prst="rect">
            <a:avLst/>
          </a:prstGeom>
          <a:noFill/>
          <a:ln/>
        </p:spPr>
        <p:txBody>
          <a:bodyPr wrap="square" lIns="0" tIns="19050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I Learned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897" y="8382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0" y="1149548"/>
            <a:ext cx="8382000" cy="139958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365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local LLMs via Ollama API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unified interface using abstract classes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00149" y="1754088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0" y="2091332"/>
            <a:ext cx="8382000" cy="111204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365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different prompting strategies and when to use them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impact on quality and creativity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learning for desired format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600"/>
              </a:spcAft>
              <a:buSzPct val="100000"/>
              <a:buChar char="•"/>
            </a:pPr>
            <a:r>
              <a:rPr lang="en-US" sz="975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 for complex reasoning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548</Words>
  <Application>Microsoft Office PowerPoint</Application>
  <PresentationFormat>Экран (16:9)</PresentationFormat>
  <Paragraphs>94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Research Assistant Project</dc:title>
  <dc:subject>PptxGenJS Presentation</dc:subject>
  <dc:creator>Alex</dc:creator>
  <cp:lastModifiedBy>Oleksii Burianov</cp:lastModifiedBy>
  <cp:revision>2</cp:revision>
  <dcterms:created xsi:type="dcterms:W3CDTF">2025-12-12T11:05:40Z</dcterms:created>
  <dcterms:modified xsi:type="dcterms:W3CDTF">2025-12-12T12:10:37Z</dcterms:modified>
</cp:coreProperties>
</file>